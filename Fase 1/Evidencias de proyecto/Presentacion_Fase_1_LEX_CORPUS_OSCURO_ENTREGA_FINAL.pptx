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960d0f398f54ff1" /><Relationship Type="http://schemas.openxmlformats.org/officeDocument/2006/relationships/extended-properties" Target="/docProps/app.xml" Id="Re8fe82cb09d542fc" /><Relationship Type="http://schemas.openxmlformats.org/officeDocument/2006/relationships/officeDocument" Target="/ppt/presentation.xml" Id="Rb2dc520f626d41fe" /></Relationships>
</file>

<file path=ppt/presentation.xml><?xml version="1.0" encoding="utf-8"?>
<p:presentation xmlns:p="http://schemas.openxmlformats.org/presentationml/2006/main">
  <p:sldMasterIdLst>
    <p:sldMasterId xmlns:r="http://schemas.openxmlformats.org/officeDocument/2006/relationships" id="2147483648" r:id="R77daa53b93f44cdb"/>
  </p:sldMasterIdLst>
  <p:notesMasterIdLst>
    <p:notesMasterId xmlns:r="http://schemas.openxmlformats.org/officeDocument/2006/relationships" r:id="R7b0d057987bf4826"/>
  </p:notesMasterIdLst>
  <p:sldIdLst>
    <p:sldId xmlns:r="http://schemas.openxmlformats.org/officeDocument/2006/relationships" id="256" r:id="Rc0ddf36dce7741b3"/>
    <p:sldId xmlns:r="http://schemas.openxmlformats.org/officeDocument/2006/relationships" id="257" r:id="R5fa3f6227d334511"/>
    <p:sldId xmlns:r="http://schemas.openxmlformats.org/officeDocument/2006/relationships" id="258" r:id="R81534d6054664eff"/>
    <p:sldId xmlns:r="http://schemas.openxmlformats.org/officeDocument/2006/relationships" id="259" r:id="R97765f13c2f34b7f"/>
    <p:sldId xmlns:r="http://schemas.openxmlformats.org/officeDocument/2006/relationships" id="260" r:id="R1bf29483be224ac5"/>
    <p:sldId xmlns:r="http://schemas.openxmlformats.org/officeDocument/2006/relationships" id="261" r:id="R48f8ad047827472e"/>
    <p:sldId xmlns:r="http://schemas.openxmlformats.org/officeDocument/2006/relationships" id="262" r:id="Ra78bad9858764b8b"/>
    <p:sldId xmlns:r="http://schemas.openxmlformats.org/officeDocument/2006/relationships" id="263" r:id="R4d6b005a24374a2b"/>
    <p:sldId xmlns:r="http://schemas.openxmlformats.org/officeDocument/2006/relationships" id="264" r:id="Rc061c3682af94f60"/>
    <p:sldId xmlns:r="http://schemas.openxmlformats.org/officeDocument/2006/relationships" id="265" r:id="R0f58c434353e438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e320505578a4abc" /><Relationship Type="http://schemas.openxmlformats.org/officeDocument/2006/relationships/slideMaster" Target="/ppt/slideMasters/slideMaster1.xml" Id="R77daa53b93f44cdb" /><Relationship Type="http://schemas.openxmlformats.org/officeDocument/2006/relationships/notesMaster" Target="/ppt/notesMasters/notesMaster1.xml" Id="R7b0d057987bf4826" /><Relationship Type="http://schemas.openxmlformats.org/officeDocument/2006/relationships/presProps" Target="/ppt/presProps.xml" Id="Rc8b3819f7d4a4fdc" /><Relationship Type="http://schemas.openxmlformats.org/officeDocument/2006/relationships/tableStyles" Target="/ppt/tableStyles.xml" Id="R5465f4db3e8a46ec" /><Relationship Type="http://schemas.openxmlformats.org/officeDocument/2006/relationships/slide" Target="/ppt/slides/slide1.xml" Id="Rc0ddf36dce7741b3" /><Relationship Type="http://schemas.openxmlformats.org/officeDocument/2006/relationships/slide" Target="/ppt/slides/slide2.xml" Id="R5fa3f6227d334511" /><Relationship Type="http://schemas.openxmlformats.org/officeDocument/2006/relationships/slide" Target="/ppt/slides/slide3.xml" Id="R81534d6054664eff" /><Relationship Type="http://schemas.openxmlformats.org/officeDocument/2006/relationships/slide" Target="/ppt/slides/slide4.xml" Id="R97765f13c2f34b7f" /><Relationship Type="http://schemas.openxmlformats.org/officeDocument/2006/relationships/slide" Target="/ppt/slides/slide5.xml" Id="R1bf29483be224ac5" /><Relationship Type="http://schemas.openxmlformats.org/officeDocument/2006/relationships/slide" Target="/ppt/slides/slide6.xml" Id="R48f8ad047827472e" /><Relationship Type="http://schemas.openxmlformats.org/officeDocument/2006/relationships/slide" Target="/ppt/slides/slide7.xml" Id="Ra78bad9858764b8b" /><Relationship Type="http://schemas.openxmlformats.org/officeDocument/2006/relationships/slide" Target="/ppt/slides/slide8.xml" Id="R4d6b005a24374a2b" /><Relationship Type="http://schemas.openxmlformats.org/officeDocument/2006/relationships/slide" Target="/ppt/slides/slide9.xml" Id="Rc061c3682af94f60" /><Relationship Type="http://schemas.openxmlformats.org/officeDocument/2006/relationships/slide" Target="/ppt/slides/slide10.xml" Id="R0f58c434353e438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191c8e6ad654a2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f680b779c94c5b" /><Relationship Type="http://schemas.openxmlformats.org/officeDocument/2006/relationships/notesMaster" Target="/ppt/notesMasters/notesMaster1.xml" Id="R4878d4c1ecd24bba"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c5ea45d5b1404b" /><Relationship Type="http://schemas.openxmlformats.org/officeDocument/2006/relationships/notesMaster" Target="/ppt/notesMasters/notesMaster1.xml" Id="R0387b80de9e045c5"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956647972240fb" /><Relationship Type="http://schemas.openxmlformats.org/officeDocument/2006/relationships/notesMaster" Target="/ppt/notesMasters/notesMaster1.xml" Id="R949d7d8b5a104f8e"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09747664824121" /><Relationship Type="http://schemas.openxmlformats.org/officeDocument/2006/relationships/notesMaster" Target="/ppt/notesMasters/notesMaster1.xml" Id="Rd2e320d8fbad44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525d7472b5e14985" /><Relationship Type="http://schemas.openxmlformats.org/officeDocument/2006/relationships/notesMaster" Target="/ppt/notesMasters/notesMaster1.xml" Id="R1ec004ecef194071" /></Relationships>
</file>

<file path=ppt/notesSlides/_rels/notesSlide6.xml.rels>&#65279;<?xml version="1.0" encoding="utf-8"?><Relationships xmlns="http://schemas.openxmlformats.org/package/2006/relationships"><Relationship Type="http://schemas.openxmlformats.org/officeDocument/2006/relationships/slide" Target="/ppt/slides/slide6.xml" Id="R30a7200eba0d429e" /><Relationship Type="http://schemas.openxmlformats.org/officeDocument/2006/relationships/notesMaster" Target="/ppt/notesMasters/notesMaster1.xml" Id="Rc5b3b4afc29a419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4efe4ebaeac4097" /><Relationship Type="http://schemas.openxmlformats.org/officeDocument/2006/relationships/notesMaster" Target="/ppt/notesMasters/notesMaster1.xml" Id="R2ec393c3ad1d4dbd" /></Relationships>
</file>

<file path=ppt/notesSlides/_rels/notesSlide8.xml.rels>&#65279;<?xml version="1.0" encoding="utf-8"?><Relationships xmlns="http://schemas.openxmlformats.org/package/2006/relationships"><Relationship Type="http://schemas.openxmlformats.org/officeDocument/2006/relationships/slide" Target="/ppt/slides/slide8.xml" Id="R698f27e8d66248e2" /><Relationship Type="http://schemas.openxmlformats.org/officeDocument/2006/relationships/notesMaster" Target="/ppt/notesMasters/notesMaster1.xml" Id="Refa05265e1344289" /></Relationships>
</file>

<file path=ppt/notesSlides/_rels/notesSlide9.xml.rels>&#65279;<?xml version="1.0" encoding="utf-8"?><Relationships xmlns="http://schemas.openxmlformats.org/package/2006/relationships"><Relationship Type="http://schemas.openxmlformats.org/officeDocument/2006/relationships/slide" Target="/ppt/slides/slide9.xml" Id="R916bff36dfb247c2" /><Relationship Type="http://schemas.openxmlformats.org/officeDocument/2006/relationships/notesMaster" Target="/ppt/notesMasters/notesMaster1.xml" Id="R6914612663f444af"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ac9abc4962f4a4c" /><Relationship Type="http://schemas.openxmlformats.org/officeDocument/2006/relationships/notesMaster" Target="/ppt/notesMasters/notesMaster1.xml" Id="R56551085a54140f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SEBASTIÁN — 0:35 min</a:t>
            </a:r>
          </a:p>
          <a:p xmlns:a="http://schemas.openxmlformats.org/drawingml/2006/main">
            <a:r>
              <a:t/>
            </a:r>
          </a:p>
          <a:p xmlns:a="http://schemas.openxmlformats.org/drawingml/2006/main">
            <a:r>
              <a:t>Buenos días. Somos Sebastián González, Emerson Jiménez y Natanael Labrea. Presentaremos el trabajo desarrollado en la Fase 1 de LEX-CORPUS. Esta etapa nos permitió definir el problema, delimitar las funciones principales, diseñar la base técnica y validar una propuesta visual antes de programar.</a:t>
            </a:r>
          </a:p>
          <a:p xmlns:a="http://schemas.openxmlformats.org/drawingml/2006/main">
            <a:r>
              <a:t/>
            </a:r>
          </a:p>
          <a:p xmlns:a="http://schemas.openxmlformats.org/drawingml/2006/main">
            <a:r>
              <a:t>Fuentes: documentos internos del repositorio CAPSTONE, incluyendo definición del proyecto, historias de usuario, DAS, Plan del Proyecto, diagramas y mockups de Natanael Labrea. Iconos: Lucide, licencia ISC. Imagen editorial de portada generada con OpenAI para esta presentación.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SEBASTIÁN — 0:55 min</a:t>
            </a:r>
          </a:p>
          <a:p xmlns:a="http://schemas.openxmlformats.org/drawingml/2006/main">
            <a:r>
              <a:t/>
            </a:r>
          </a:p>
          <a:p xmlns:a="http://schemas.openxmlformats.org/drawingml/2006/main">
            <a:r>
              <a:t>El proyecto nace de una necesidad concreta. Para hacer seguimiento de una causa, el abogado debe relacionar fechas, documentos, movimientos y comunicaciones. Cuando esa información queda dispersa, el seguimiento se vuelve más difícil y se pierde contexto. LEX-CORPUS busca concentrar esos elementos y compartir con el cliente información ya confirmada. El sistema complementa al SAJ y no modifica datos oficiales.</a:t>
            </a:r>
          </a:p>
          <a:p xmlns:a="http://schemas.openxmlformats.org/drawingml/2006/main">
            <a:r>
              <a:t/>
            </a:r>
          </a:p>
          <a:p xmlns:a="http://schemas.openxmlformats.org/drawingml/2006/main">
            <a:r>
              <a:t>Fuentes: documentos internos del repositorio CAPSTONE, incluyendo definición del proyecto, historias de usuario, DAS, Plan del Proyecto, diagramas y mockups de Natanael Labrea. Iconos: Lucide, licencia ISC. Imagen editorial de portada generada con OpenAI para esta presentación.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SEBASTIÁN — 1:00 min</a:t>
            </a:r>
          </a:p>
          <a:p xmlns:a="http://schemas.openxmlformats.org/drawingml/2006/main">
            <a:r>
              <a:t/>
            </a:r>
          </a:p>
          <a:p xmlns:a="http://schemas.openxmlformats.org/drawingml/2006/main">
            <a:r>
              <a:t>Durante esta fase definimos el alcance mediante veinticuatro historias de usuario y trece mockups. Identificamos dos perfiles. El abogado gestiona causas, revisa pendientes y confirma movimientos. El cliente consulta sus causas, revisa el historial y responde solicitudes de documentos. Esta separación evita mezclar funciones y define qué información corresponde a cada perfil.</a:t>
            </a:r>
          </a:p>
          <a:p xmlns:a="http://schemas.openxmlformats.org/drawingml/2006/main">
            <a:r>
              <a:t/>
            </a:r>
          </a:p>
          <a:p xmlns:a="http://schemas.openxmlformats.org/drawingml/2006/main">
            <a:r>
              <a:t>Fuentes: documentos internos del repositorio CAPSTONE, incluyendo definición del proyecto, historias de usuario, DAS, Plan del Proyecto, diagramas y mockups de Natanael Labrea. Iconos: Lucide, licencia ISC. Imagen editorial de portada generada con OpenAI para esta presentación.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EMERSON — 1:05 min</a:t>
            </a:r>
          </a:p>
          <a:p xmlns:a="http://schemas.openxmlformats.org/drawingml/2006/main">
            <a:r>
              <a:t/>
            </a:r>
          </a:p>
          <a:p xmlns:a="http://schemas.openxmlformats.org/drawingml/2006/main">
            <a:r>
              <a:t>La propuesta técnica es un monolito modular. Elegimos este enfoque porque responde al alcance del proyecto y mantiene las responsabilidades separadas. Angular resuelve la interfaz. NestJS concentra la API, reglas de negocio y controles de acceso. PostgreSQL almacena la información de las causas. Esta organización evita mezclar la interfaz con la lógica del negocio y facilita que el sistema evolucione de forma ordenada.</a:t>
            </a:r>
          </a:p>
          <a:p xmlns:a="http://schemas.openxmlformats.org/drawingml/2006/main">
            <a:r>
              <a:t/>
            </a:r>
          </a:p>
          <a:p xmlns:a="http://schemas.openxmlformats.org/drawingml/2006/main">
            <a:r>
              <a:t>Fuentes: documentos internos del repositorio CAPSTONE, incluyendo definición del proyecto, historias de usuario, DAS, Plan del Proyecto, diagramas y mockups de Natanael Labrea. Iconos: Lucide, licencia ISC. Imagen editorial de portada generada con OpenAI para esta presentación.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EMERSON — 1:00 min</a:t>
            </a:r>
          </a:p>
          <a:p xmlns:a="http://schemas.openxmlformats.org/drawingml/2006/main">
            <a:r>
              <a:t/>
            </a:r>
          </a:p>
          <a:p xmlns:a="http://schemas.openxmlformats.org/drawingml/2006/main">
            <a:r>
              <a:t>En el modelo de información, la causa es el centro. A ella se relacionan el abogado, el cliente, los documentos, los estados, recordatorios, solicitudes documentales y los movimientos pendientes de confirmación. Esta definición responde a las historias de usuario y permite mantener trazabilidad. En la siguiente fase profundizaremos relaciones, restricciones y decisiones propias de la base de datos.</a:t>
            </a:r>
          </a:p>
          <a:p xmlns:a="http://schemas.openxmlformats.org/drawingml/2006/main">
            <a:r>
              <a:t/>
            </a:r>
          </a:p>
          <a:p xmlns:a="http://schemas.openxmlformats.org/drawingml/2006/main">
            <a:r>
              <a:t>Fuentes: documentos internos del repositorio CAPSTONE, incluyendo definición del proyecto, historias de usuario, DAS, Plan del Proyecto, diagramas y mockups de Natanael Labrea. Iconos: Lucide, licencia ISC. Imagen editorial de portada generada con OpenAI para esta presentación.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EMERSON — 1:00 min</a:t>
            </a:r>
          </a:p>
          <a:p xmlns:a="http://schemas.openxmlformats.org/drawingml/2006/main">
            <a:r>
              <a:t/>
            </a:r>
          </a:p>
          <a:p xmlns:a="http://schemas.openxmlformats.org/drawingml/2006/main">
            <a:r>
              <a:t>Definimos dos flujos especialmente sensibles. El primero es la importación de causas desde Excel, donde se valida el formato, se detectan posibles duplicados y el abogado revisa antes de confirmar. El segundo corresponde a sugerencias obtenidas desde correos o documentos. La regla central es que una sugerencia no modifica una causa por sí sola. El abogado puede revisarla, corregirla y confirmar el registro en el historial.</a:t>
            </a:r>
          </a:p>
          <a:p xmlns:a="http://schemas.openxmlformats.org/drawingml/2006/main">
            <a:r>
              <a:t/>
            </a:r>
          </a:p>
          <a:p xmlns:a="http://schemas.openxmlformats.org/drawingml/2006/main">
            <a:r>
              <a:t>Fuentes: documentos internos del repositorio CAPSTONE, incluyendo definición del proyecto, historias de usuario, DAS, Plan del Proyecto, diagramas y mockups de Natanael Labrea. Iconos: Lucide, licencia ISC. Imagen editorial de portada generada con OpenAI para esta presentación.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EMERSON — 1:15 min</a:t>
            </a:r>
          </a:p>
          <a:p xmlns:a="http://schemas.openxmlformats.org/drawingml/2006/main">
            <a:r>
              <a:t/>
            </a:r>
          </a:p>
          <a:p xmlns:a="http://schemas.openxmlformats.org/drawingml/2006/main">
            <a:r>
              <a:t>El plan propone cuatro iteraciones de dos semanas, para un total de ocho semanas de referencia. La primera cubre cuenta, acceso y base de causas. La segunda aborda comunicación y confirmación de sugerencias. La tercera incorpora el portal del cliente y funciones secundarias. La cuarta se reserva para pruebas, ajustes y documentación final. El seguimiento se realizará con Kanban y una revisión al cierre de cada iteración. Las fechas exactas deben confirmarse con el calendario del curso y el docente guía.</a:t>
            </a:r>
          </a:p>
          <a:p xmlns:a="http://schemas.openxmlformats.org/drawingml/2006/main">
            <a:r>
              <a:t/>
            </a:r>
          </a:p>
          <a:p xmlns:a="http://schemas.openxmlformats.org/drawingml/2006/main">
            <a:r>
              <a:t>Fuentes: documentos internos del repositorio CAPSTONE, incluyendo definición del proyecto, historias de usuario, DAS, Plan del Proyecto, diagramas y mockups de Natanael Labrea. Iconos: Lucide, licencia ISC. Imagen editorial de portada generada con OpenAI para esta presentación.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NATANAEL — 1:30 min</a:t>
            </a:r>
          </a:p>
          <a:p xmlns:a="http://schemas.openxmlformats.org/drawingml/2006/main">
            <a:r>
              <a:t/>
            </a:r>
          </a:p>
          <a:p xmlns:a="http://schemas.openxmlformats.org/drawingml/2006/main">
            <a:r>
              <a:t>Aquí vemos las primeras siete pantallas. El recorrido comienza con el acceso, el cambio obligatorio de contraseña, la recuperación de cuenta y la gestión de perfil. Después pasamos al trabajo del abogado: panel de causas, registro de una nueva causa y detalle del caso. En vez de presentar cada pantalla por separado, queremos destacar que este bloque construye un recorrido continuo: entrar al sistema, encontrar una causa, crearla o revisarla y acceder a su información principal.</a:t>
            </a:r>
          </a:p>
          <a:p xmlns:a="http://schemas.openxmlformats.org/drawingml/2006/main">
            <a:r>
              <a:t/>
            </a:r>
          </a:p>
          <a:p xmlns:a="http://schemas.openxmlformats.org/drawingml/2006/main">
            <a:r>
              <a:t>Fuentes: documentos internos del repositorio CAPSTONE, incluyendo definición del proyecto, historias de usuario, DAS, Plan del Proyecto, diagramas y mockups de Natanael Labrea. Iconos: Lucide, licencia ISC. Imagen editorial de portada generada con OpenAI para esta presentación.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NATANAEL — 1:30 min</a:t>
            </a:r>
          </a:p>
          <a:p xmlns:a="http://schemas.openxmlformats.org/drawingml/2006/main">
            <a:r>
              <a:t/>
            </a:r>
          </a:p>
          <a:p xmlns:a="http://schemas.openxmlformats.org/drawingml/2006/main">
            <a:r>
              <a:t>En este segundo bloque vemos las funciones operativas y la vista cliente. El abogado puede importar causas desde Excel, revisar pendientes y manejar la bandeja de movimientos. La pantalla de confirmación muestra cómo se revisa una sugerencia antes de incorporarla al historial. Finalmente, las dos últimas vistas permiten que el cliente consulte sus causas y el detalle de una causa. La idea es que el cliente vea información clara, pero solo después de que el abogado la haya validado.</a:t>
            </a:r>
          </a:p>
          <a:p xmlns:a="http://schemas.openxmlformats.org/drawingml/2006/main">
            <a:r>
              <a:t/>
            </a:r>
          </a:p>
          <a:p xmlns:a="http://schemas.openxmlformats.org/drawingml/2006/main">
            <a:r>
              <a:t>Fuentes: documentos internos del repositorio CAPSTONE, incluyendo definición del proyecto, historias de usuario, DAS, Plan del Proyecto, diagramas y mockups de Natanael Labrea. Iconos: Lucide, licencia ISC. Imagen editorial de portada generada con OpenAI para esta presentación.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NATANAEL — 0:45 min</a:t>
            </a:r>
          </a:p>
          <a:p xmlns:a="http://schemas.openxmlformats.org/drawingml/2006/main">
            <a:r>
              <a:t/>
            </a:r>
          </a:p>
          <a:p xmlns:a="http://schemas.openxmlformats.org/drawingml/2006/main">
            <a:r>
              <a:t>Con esto cerramos la Fase 1. Definimos el problema, acordamos el alcance, propusimos una arquitectura y creamos trece mockups para guiar la construcción. El siguiente paso es transformar esta definición en una primera versión funcional, priorizando base de datos, seguridad e interfaz. Muchas gracias.</a:t>
            </a:r>
          </a:p>
          <a:p xmlns:a="http://schemas.openxmlformats.org/drawingml/2006/main">
            <a:r>
              <a:t/>
            </a:r>
          </a:p>
          <a:p xmlns:a="http://schemas.openxmlformats.org/drawingml/2006/main">
            <a:r>
              <a:t>Fuentes: documentos internos del repositorio CAPSTONE, incluyendo definición del proyecto, historias de usuario, DAS, Plan del Proyecto, diagramas y mockups de Natanael Labrea. Iconos: Lucide, licencia ISC. Imagen editorial de portada generada con OpenAI para esta presentación.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912368c11d44ec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398c4412fb54c99" /><Relationship Type="http://schemas.openxmlformats.org/officeDocument/2006/relationships/slideLayout" Target="/ppt/slideLayouts/slideLayout1.xml" Id="R842a749626fa48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842a749626fa48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07b98476a624675" /><Relationship Type="http://schemas.openxmlformats.org/officeDocument/2006/relationships/image" Target="/ppt/media/image.png" Id="R8c0ccf73cc704261" /><Relationship Type="http://schemas.openxmlformats.org/officeDocument/2006/relationships/notesSlide" Target="/ppt/notesSlides/notesSlide1.xml" Id="R1989353671c04c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397371f5f8148ee" /><Relationship Type="http://schemas.openxmlformats.org/officeDocument/2006/relationships/image" Target="/ppt/media/image2.png" Id="R9c9399bd4b4747d6" /><Relationship Type="http://schemas.openxmlformats.org/officeDocument/2006/relationships/image" Target="/ppt/media/image3.png" Id="R128b22e1ce314297" /><Relationship Type="http://schemas.openxmlformats.org/officeDocument/2006/relationships/image" Target="/ppt/media/image4.png" Id="R55606a4d9eb745c3" /><Relationship Type="http://schemas.openxmlformats.org/officeDocument/2006/relationships/image" Target="/ppt/media/image5.png" Id="R0dbd9f51d9094514" /><Relationship Type="http://schemas.openxmlformats.org/officeDocument/2006/relationships/notesSlide" Target="/ppt/notesSlides/notesSlide2.xml" Id="Rbb65f6f4bc96421b"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879e5c6c50348be" /><Relationship Type="http://schemas.openxmlformats.org/officeDocument/2006/relationships/image" Target="/ppt/media/image6.png" Id="Rd5b3137b3d7e4f3e" /><Relationship Type="http://schemas.openxmlformats.org/officeDocument/2006/relationships/image" Target="/ppt/media/image7.png" Id="R13bfd817fbb545b2" /><Relationship Type="http://schemas.openxmlformats.org/officeDocument/2006/relationships/image" Target="/ppt/media/image8.png" Id="R0e8f40954ad44100" /><Relationship Type="http://schemas.openxmlformats.org/officeDocument/2006/relationships/image" Target="/ppt/media/image9.png" Id="R8274ffa734dd4e8a" /><Relationship Type="http://schemas.openxmlformats.org/officeDocument/2006/relationships/notesSlide" Target="/ppt/notesSlides/notesSlide3.xml" Id="R41266c9b1ac5449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5ad427b7c8f424e" /><Relationship Type="http://schemas.openxmlformats.org/officeDocument/2006/relationships/image" Target="/ppt/media/image10.png" Id="R9260f885af724dc1" /><Relationship Type="http://schemas.openxmlformats.org/officeDocument/2006/relationships/image" Target="/ppt/media/image11.png" Id="R2bc63100dab44df1" /><Relationship Type="http://schemas.openxmlformats.org/officeDocument/2006/relationships/image" Target="/ppt/media/image12.png" Id="Re064833afe3140ce" /><Relationship Type="http://schemas.openxmlformats.org/officeDocument/2006/relationships/notesSlide" Target="/ppt/notesSlides/notesSlide4.xml" Id="Rfff6c196b441452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2b0a4234611c4df0" /><Relationship Type="http://schemas.openxmlformats.org/officeDocument/2006/relationships/image" Target="/ppt/media/image13.png" Id="R41b531dec3e74a04" /><Relationship Type="http://schemas.openxmlformats.org/officeDocument/2006/relationships/notesSlide" Target="/ppt/notesSlides/notesSlide5.xml" Id="R68f7226d8796480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854f62080de4313" /><Relationship Type="http://schemas.openxmlformats.org/officeDocument/2006/relationships/image" Target="/ppt/media/image14.png" Id="R4c404e171b3144eb" /><Relationship Type="http://schemas.openxmlformats.org/officeDocument/2006/relationships/image" Target="/ppt/media/image15.png" Id="R37d659f38ac14f9e" /><Relationship Type="http://schemas.openxmlformats.org/officeDocument/2006/relationships/image" Target="/ppt/media/image16.png" Id="Rcfe903134b734af0" /><Relationship Type="http://schemas.openxmlformats.org/officeDocument/2006/relationships/notesSlide" Target="/ppt/notesSlides/notesSlide6.xml" Id="Radaf76663eea48d6"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b40cca053900425b" /><Relationship Type="http://schemas.openxmlformats.org/officeDocument/2006/relationships/image" Target="/ppt/media/image17.png" Id="R00638c4e64364d8d" /><Relationship Type="http://schemas.openxmlformats.org/officeDocument/2006/relationships/image" Target="/ppt/media/image18.png" Id="R38af3cb9f5f846a1" /><Relationship Type="http://schemas.openxmlformats.org/officeDocument/2006/relationships/image" Target="/ppt/media/image19.png" Id="R9a37b9521ffb46c3" /><Relationship Type="http://schemas.openxmlformats.org/officeDocument/2006/relationships/image" Target="/ppt/media/image20.png" Id="Rb16fc2c182db413a" /><Relationship Type="http://schemas.openxmlformats.org/officeDocument/2006/relationships/image" Target="/ppt/media/image21.png" Id="Red8cff623045498e" /><Relationship Type="http://schemas.openxmlformats.org/officeDocument/2006/relationships/notesSlide" Target="/ppt/notesSlides/notesSlide7.xml" Id="R67b3f652fbec48a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e46032a1cf6a42e3" /><Relationship Type="http://schemas.openxmlformats.org/officeDocument/2006/relationships/image" Target="/ppt/media/image22.png" Id="Ra64176fe69454c2e" /><Relationship Type="http://schemas.openxmlformats.org/officeDocument/2006/relationships/image" Target="/ppt/media/image23.png" Id="R6ce43272bfef4174" /><Relationship Type="http://schemas.openxmlformats.org/officeDocument/2006/relationships/image" Target="/ppt/media/image24.png" Id="Rd0c7227aca64416d" /><Relationship Type="http://schemas.openxmlformats.org/officeDocument/2006/relationships/image" Target="/ppt/media/image25.png" Id="R52790ca25a9340e3" /><Relationship Type="http://schemas.openxmlformats.org/officeDocument/2006/relationships/image" Target="/ppt/media/image26.png" Id="R9b3a266d49a64067" /><Relationship Type="http://schemas.openxmlformats.org/officeDocument/2006/relationships/image" Target="/ppt/media/image27.png" Id="R21d27e74a5e74235" /><Relationship Type="http://schemas.openxmlformats.org/officeDocument/2006/relationships/image" Target="/ppt/media/image28.png" Id="R5c88c0a48d7e40a9" /><Relationship Type="http://schemas.openxmlformats.org/officeDocument/2006/relationships/notesSlide" Target="/ppt/notesSlides/notesSlide8.xml" Id="R7408a36c97b941fb"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843b1c63fde4b4d" /><Relationship Type="http://schemas.openxmlformats.org/officeDocument/2006/relationships/image" Target="/ppt/media/image29.png" Id="Rb123f8a2228b422a" /><Relationship Type="http://schemas.openxmlformats.org/officeDocument/2006/relationships/image" Target="/ppt/media/image30.png" Id="Re39fc677140440ed" /><Relationship Type="http://schemas.openxmlformats.org/officeDocument/2006/relationships/image" Target="/ppt/media/image31.png" Id="Rcd6e5fa00b9d4f85" /><Relationship Type="http://schemas.openxmlformats.org/officeDocument/2006/relationships/image" Target="/ppt/media/image32.png" Id="Ra18706d9fb5e49b5" /><Relationship Type="http://schemas.openxmlformats.org/officeDocument/2006/relationships/image" Target="/ppt/media/image33.png" Id="Rd8ec7a8d6768420a" /><Relationship Type="http://schemas.openxmlformats.org/officeDocument/2006/relationships/image" Target="/ppt/media/image34.png" Id="R265f319dbce04fc2" /><Relationship Type="http://schemas.openxmlformats.org/officeDocument/2006/relationships/notesSlide" Target="/ppt/notesSlides/notesSlide9.xml" Id="Rb3af757de471450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33dcae187464519" /><Relationship Type="http://schemas.openxmlformats.org/officeDocument/2006/relationships/image" Target="/ppt/media/image35.png" Id="Rae563cf2d8274b36" /><Relationship Type="http://schemas.openxmlformats.org/officeDocument/2006/relationships/notesSlide" Target="/ppt/notesSlides/notesSlide10.xml" Id="R983c0891e95f4242" /></Relationships>
</file>

<file path=ppt/slides/slide1.xml><?xml version="1.0" encoding="utf-8"?>
<p:sld xmlns:p="http://schemas.openxmlformats.org/presentationml/2006/main">
  <p:cSld>
    <p:bg>
      <p:bgPr>
        <a:solidFill xmlns:a="http://schemas.openxmlformats.org/drawingml/2006/main">
          <a:srgbClr val="070A0D"/>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8c0ccf73cc704261"/>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oundRect">
            <a:avLst>
              <a:gd name="adj" fmla="val 1111"/>
            </a:avLst>
          </a:prstGeom>
        </p:spPr>
      </p:pic>
      <p:sp>
        <p:nvSpPr>
          <p:cNvPr id="2" name="">
            <a:extLst xmlns:a="http://schemas.openxmlformats.org/drawingml/2006/main">
              <a:ext uri="{FF2B5EF4-FFF2-40B4-BE49-F238E27FC236}">
                <a16:creationId xmlns:a16="http://schemas.microsoft.com/office/drawing/2014/main" id="{3B422755-BB1B-44B3-A3FA-5139F22A93F4}"/>
              </a:ext>
            </a:extLst>
          </p:cNvPr>
          <p:cNvSpPr>
            <a:spLocks xmlns:a="http://schemas.openxmlformats.org/drawingml/2006/main" noGrp="1"/>
          </p:cNvSpPr>
          <p:nvPr/>
        </p:nvSpPr>
        <p:spPr>
          <a:xfrm xmlns:a="http://schemas.openxmlformats.org/drawingml/2006/main">
            <a:off x="0" y="0"/>
            <a:ext cx="6477000" cy="6858000"/>
          </a:xfrm>
          <a:prstGeom xmlns:a="http://schemas.openxmlformats.org/drawingml/2006/main" prst="rect">
            <a:avLst/>
          </a:prstGeom>
          <a:solidFill xmlns:a="http://schemas.openxmlformats.org/drawingml/2006/main">
            <a:srgbClr val="070A0D">
              <a:alpha val="90980"/>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687EF198-677A-4860-B6BC-4D31F8928D2C}"/>
              </a:ext>
            </a:extLst>
          </p:cNvPr>
          <p:cNvSpPr>
            <a:spLocks xmlns:a="http://schemas.openxmlformats.org/drawingml/2006/main" noGrp="1"/>
          </p:cNvSpPr>
          <p:nvPr/>
        </p:nvSpPr>
        <p:spPr>
          <a:xfrm xmlns:a="http://schemas.openxmlformats.org/drawingml/2006/main">
            <a:off x="723900" y="1104900"/>
            <a:ext cx="4476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972"/>
          </a:bodyPr>
          <a:lstStyle xmlns:a="http://schemas.openxmlformats.org/drawingml/2006/main"/>
          <a:p xmlns:a="http://schemas.openxmlformats.org/drawingml/2006/main">
            <a:pPr>
              <a:defRPr sz="3600" b="1">
                <a:solidFill>
                  <a:srgbClr val="F4F7FA"/>
                </a:solidFill>
                <a:latin typeface="Helvetica Neue"/>
                <a:ea typeface="Helvetica Neue"/>
                <a:cs typeface="Helvetica Neue"/>
              </a:defRPr>
            </a:pPr>
            <a:r>
              <a:rPr sz="3600" b="1">
                <a:solidFill>
                  <a:srgbClr val="F4F7FA"/>
                </a:solidFill>
                <a:latin typeface="Helvetica Neue"/>
                <a:ea typeface="Helvetica Neue"/>
                <a:cs typeface="Helvetica Neue"/>
              </a:rPr>
              <a:t>LEX-CORPUS</a:t>
            </a:r>
          </a:p>
        </p:txBody>
      </p:sp>
      <p:sp>
        <p:nvSpPr>
          <p:cNvPr id="4" name="">
            <a:extLst xmlns:a="http://schemas.openxmlformats.org/drawingml/2006/main">
              <a:ext uri="{FF2B5EF4-FFF2-40B4-BE49-F238E27FC236}">
                <a16:creationId xmlns:a16="http://schemas.microsoft.com/office/drawing/2014/main" id="{F92C2353-3633-42F7-A330-7AB0740F4C12}"/>
              </a:ext>
            </a:extLst>
          </p:cNvPr>
          <p:cNvSpPr>
            <a:spLocks xmlns:a="http://schemas.openxmlformats.org/drawingml/2006/main" noGrp="1"/>
          </p:cNvSpPr>
          <p:nvPr/>
        </p:nvSpPr>
        <p:spPr>
          <a:xfrm xmlns:a="http://schemas.openxmlformats.org/drawingml/2006/main">
            <a:off x="723900" y="1809750"/>
            <a:ext cx="247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6428"/>
          </a:bodyPr>
          <a:lstStyle xmlns:a="http://schemas.openxmlformats.org/drawingml/2006/main"/>
          <a:p xmlns:a="http://schemas.openxmlformats.org/drawingml/2006/main">
            <a:pPr>
              <a:defRPr sz="2100">
                <a:solidFill>
                  <a:srgbClr val="C7D0DA"/>
                </a:solidFill>
                <a:latin typeface="Helvetica Neue"/>
                <a:ea typeface="Helvetica Neue"/>
                <a:cs typeface="Helvetica Neue"/>
              </a:defRPr>
            </a:pPr>
            <a:r>
              <a:rPr sz="2100">
                <a:solidFill>
                  <a:srgbClr val="C7D0DA"/>
                </a:solidFill>
                <a:latin typeface="Helvetica Neue"/>
                <a:ea typeface="Helvetica Neue"/>
                <a:cs typeface="Helvetica Neue"/>
              </a:rPr>
              <a:t>Fase 1</a:t>
            </a:r>
          </a:p>
        </p:txBody>
      </p:sp>
      <p:sp>
        <p:nvSpPr>
          <p:cNvPr id="5" name="">
            <a:extLst xmlns:a="http://schemas.openxmlformats.org/drawingml/2006/main">
              <a:ext uri="{FF2B5EF4-FFF2-40B4-BE49-F238E27FC236}">
                <a16:creationId xmlns:a16="http://schemas.microsoft.com/office/drawing/2014/main" id="{DB8BBBFF-D9B2-4D45-AAF4-8C31C0671C3B}"/>
              </a:ext>
            </a:extLst>
          </p:cNvPr>
          <p:cNvSpPr>
            <a:spLocks xmlns:a="http://schemas.openxmlformats.org/drawingml/2006/main" noGrp="1"/>
          </p:cNvSpPr>
          <p:nvPr/>
        </p:nvSpPr>
        <p:spPr>
          <a:xfrm xmlns:a="http://schemas.openxmlformats.org/drawingml/2006/main">
            <a:off x="723900" y="2733675"/>
            <a:ext cx="46863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2025">
                <a:solidFill>
                  <a:srgbClr val="F4F7FA"/>
                </a:solidFill>
                <a:latin typeface="Helvetica Neue"/>
                <a:ea typeface="Helvetica Neue"/>
                <a:cs typeface="Helvetica Neue"/>
              </a:defRPr>
            </a:pPr>
            <a:r>
              <a:rPr sz="2025">
                <a:solidFill>
                  <a:srgbClr val="F4F7FA"/>
                </a:solidFill>
                <a:latin typeface="Helvetica Neue"/>
                <a:ea typeface="Helvetica Neue"/>
                <a:cs typeface="Helvetica Neue"/>
              </a:rPr>
              <a:t>Organización de causas y comunicación con clientes</a:t>
            </a:r>
          </a:p>
        </p:txBody>
      </p:sp>
      <p:sp>
        <p:nvSpPr>
          <p:cNvPr id="6" name="">
            <a:extLst xmlns:a="http://schemas.openxmlformats.org/drawingml/2006/main">
              <a:ext uri="{FF2B5EF4-FFF2-40B4-BE49-F238E27FC236}">
                <a16:creationId xmlns:a16="http://schemas.microsoft.com/office/drawing/2014/main" id="{00C7EAF7-A8DD-4E1C-A1D7-8204D00AA59C}"/>
              </a:ext>
            </a:extLst>
          </p:cNvPr>
          <p:cNvSpPr>
            <a:spLocks xmlns:a="http://schemas.openxmlformats.org/drawingml/2006/main" noGrp="1"/>
          </p:cNvSpPr>
          <p:nvPr/>
        </p:nvSpPr>
        <p:spPr>
          <a:xfrm xmlns:a="http://schemas.openxmlformats.org/drawingml/2006/main">
            <a:off x="723900" y="594360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8889"/>
          </a:bodyPr>
          <a:lstStyle xmlns:a="http://schemas.openxmlformats.org/drawingml/2006/main"/>
          <a:p xmlns:a="http://schemas.openxmlformats.org/drawingml/2006/main">
            <a:pPr>
              <a:defRPr sz="1125">
                <a:solidFill>
                  <a:srgbClr val="C7D0DA"/>
                </a:solidFill>
                <a:latin typeface="Helvetica Neue"/>
                <a:ea typeface="Helvetica Neue"/>
                <a:cs typeface="Helvetica Neue"/>
              </a:defRPr>
            </a:pPr>
            <a:r>
              <a:rPr sz="1125">
                <a:solidFill>
                  <a:srgbClr val="C7D0DA"/>
                </a:solidFill>
                <a:latin typeface="Helvetica Neue"/>
                <a:ea typeface="Helvetica Neue"/>
                <a:cs typeface="Helvetica Neue"/>
              </a:rPr>
              <a:t>Sebastián González · Emerson Jiménez · Natanael Labrea</a:t>
            </a:r>
          </a:p>
        </p:txBody>
      </p:sp>
    </p:spTree>
    <p:extLst>
      <p:ext uri="{BB962C8B-B14F-4D97-AF65-F5344CB8AC3E}">
        <p14:creationId xmlns:p14="http://schemas.microsoft.com/office/powerpoint/2010/main" val="1382984142"/>
      </p:ext>
    </p:extLst>
  </p:cSld>
</p:sld>
</file>

<file path=ppt/slides/slide2.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F5727B7D-9C57-4742-A845-FF2EDC2EB036}"/>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42C7B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BA18D96-2636-4369-8DFA-18ED7E33D73C}"/>
              </a:ext>
            </a:extLst>
          </p:cNvPr>
          <p:cNvSpPr>
            <a:spLocks xmlns:a="http://schemas.openxmlformats.org/drawingml/2006/main" noGrp="1"/>
          </p:cNvSpPr>
          <p:nvPr/>
        </p:nvSpPr>
        <p:spPr>
          <a:xfrm xmlns:a="http://schemas.openxmlformats.org/drawingml/2006/main">
            <a:off x="685800" y="37147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spc="1">
                <a:solidFill>
                  <a:srgbClr val="8FA8FF"/>
                </a:solidFill>
                <a:latin typeface="Helvetica Neue"/>
                <a:ea typeface="Helvetica Neue"/>
                <a:cs typeface="Helvetica Neue"/>
              </a:defRPr>
            </a:pPr>
            <a:r>
              <a:rPr sz="900" b="1" spc="1">
                <a:solidFill>
                  <a:srgbClr val="8FA8FF"/>
                </a:solidFill>
                <a:latin typeface="Helvetica Neue"/>
                <a:ea typeface="Helvetica Neue"/>
                <a:cs typeface="Helvetica Neue"/>
              </a:rPr>
              <a:t>CONTEXTO</a:t>
            </a:r>
          </a:p>
        </p:txBody>
      </p:sp>
      <p:sp>
        <p:nvSpPr>
          <p:cNvPr id="3" name="">
            <a:extLst xmlns:a="http://schemas.openxmlformats.org/drawingml/2006/main">
              <a:ext uri="{FF2B5EF4-FFF2-40B4-BE49-F238E27FC236}">
                <a16:creationId xmlns:a16="http://schemas.microsoft.com/office/drawing/2014/main" id="{1D489AF9-63F0-4CE4-AA4F-CE42D8A1BDE2}"/>
              </a:ext>
            </a:extLst>
          </p:cNvPr>
          <p:cNvSpPr>
            <a:spLocks xmlns:a="http://schemas.openxmlformats.org/drawingml/2006/main" noGrp="1"/>
          </p:cNvSpPr>
          <p:nvPr/>
        </p:nvSpPr>
        <p:spPr>
          <a:xfrm xmlns:a="http://schemas.openxmlformats.org/drawingml/2006/main">
            <a:off x="9906000" y="371475"/>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r">
              <a:defRPr sz="900" b="1">
                <a:solidFill>
                  <a:srgbClr val="AEB8C4"/>
                </a:solidFill>
                <a:latin typeface="Helvetica Neue"/>
                <a:ea typeface="Helvetica Neue"/>
                <a:cs typeface="Helvetica Neue"/>
              </a:defRPr>
            </a:pPr>
            <a:r>
              <a:rPr sz="900" b="1">
                <a:solidFill>
                  <a:srgbClr val="AEB8C4"/>
                </a:solidFill>
                <a:latin typeface="Helvetica Neue"/>
                <a:ea typeface="Helvetica Neue"/>
                <a:cs typeface="Helvetica Neue"/>
              </a:rPr>
              <a:t>Sebastián</a:t>
            </a:r>
          </a:p>
        </p:txBody>
      </p:sp>
      <p:sp>
        <p:nvSpPr>
          <p:cNvPr id="4" name="">
            <a:extLst xmlns:a="http://schemas.openxmlformats.org/drawingml/2006/main">
              <a:ext uri="{FF2B5EF4-FFF2-40B4-BE49-F238E27FC236}">
                <a16:creationId xmlns:a16="http://schemas.microsoft.com/office/drawing/2014/main" id="{5B64DDBD-B531-4340-A1BF-B97F06B9B281}"/>
              </a:ext>
            </a:extLst>
          </p:cNvPr>
          <p:cNvSpPr>
            <a:spLocks xmlns:a="http://schemas.openxmlformats.org/drawingml/2006/main" noGrp="1"/>
          </p:cNvSpPr>
          <p:nvPr/>
        </p:nvSpPr>
        <p:spPr>
          <a:xfrm xmlns:a="http://schemas.openxmlformats.org/drawingml/2006/main">
            <a:off x="10906125" y="643890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lgn="r">
              <a:defRPr sz="825" b="1">
                <a:solidFill>
                  <a:srgbClr val="AEB8C4"/>
                </a:solidFill>
                <a:latin typeface="Helvetica Neue"/>
                <a:ea typeface="Helvetica Neue"/>
                <a:cs typeface="Helvetica Neue"/>
              </a:defRPr>
            </a:pPr>
            <a:r>
              <a:rPr sz="825" b="1">
                <a:solidFill>
                  <a:srgbClr val="AEB8C4"/>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EA7D079B-B3F9-4259-8E50-4C339AEEB351}"/>
              </a:ext>
            </a:extLst>
          </p:cNvPr>
          <p:cNvSpPr>
            <a:spLocks xmlns:a="http://schemas.openxmlformats.org/drawingml/2006/main" noGrp="1"/>
          </p:cNvSpPr>
          <p:nvPr/>
        </p:nvSpPr>
        <p:spPr>
          <a:xfrm xmlns:a="http://schemas.openxmlformats.org/drawingml/2006/main">
            <a:off x="685800" y="914400"/>
            <a:ext cx="8572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72"/>
          </a:bodyPr>
          <a:lstStyle xmlns:a="http://schemas.openxmlformats.org/drawingml/2006/main"/>
          <a:p xmlns:a="http://schemas.openxmlformats.org/drawingml/2006/main">
            <a:pPr>
              <a:defRPr sz="2925" b="1">
                <a:solidFill>
                  <a:srgbClr val="F4F7FA"/>
                </a:solidFill>
                <a:latin typeface="Helvetica Neue"/>
                <a:ea typeface="Helvetica Neue"/>
                <a:cs typeface="Helvetica Neue"/>
              </a:defRPr>
            </a:pPr>
            <a:r>
              <a:rPr sz="2925" b="1">
                <a:solidFill>
                  <a:srgbClr val="F4F7FA"/>
                </a:solidFill>
                <a:latin typeface="Helvetica Neue"/>
                <a:ea typeface="Helvetica Neue"/>
                <a:cs typeface="Helvetica Neue"/>
              </a:rPr>
              <a:t>Información dispersa, seguimiento más difícil</a:t>
            </a:r>
          </a:p>
        </p:txBody>
      </p:sp>
      <p:sp>
        <p:nvSpPr>
          <p:cNvPr id="6" name="">
            <a:extLst xmlns:a="http://schemas.openxmlformats.org/drawingml/2006/main">
              <a:ext uri="{FF2B5EF4-FFF2-40B4-BE49-F238E27FC236}">
                <a16:creationId xmlns:a16="http://schemas.microsoft.com/office/drawing/2014/main" id="{3857F619-3FEB-4B8C-B13D-6D99A51997CD}"/>
              </a:ext>
            </a:extLst>
          </p:cNvPr>
          <p:cNvSpPr>
            <a:spLocks xmlns:a="http://schemas.openxmlformats.org/drawingml/2006/main" noGrp="1"/>
          </p:cNvSpPr>
          <p:nvPr/>
        </p:nvSpPr>
        <p:spPr>
          <a:xfrm xmlns:a="http://schemas.openxmlformats.org/drawingml/2006/main">
            <a:off x="685800" y="1619250"/>
            <a:ext cx="7429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a:solidFill>
                  <a:srgbClr val="AEB8C4"/>
                </a:solidFill>
                <a:latin typeface="Helvetica Neue"/>
                <a:ea typeface="Helvetica Neue"/>
                <a:cs typeface="Helvetica Neue"/>
              </a:defRPr>
            </a:pPr>
            <a:r>
              <a:rPr sz="1650">
                <a:solidFill>
                  <a:srgbClr val="AEB8C4"/>
                </a:solidFill>
                <a:latin typeface="Helvetica Neue"/>
                <a:ea typeface="Helvetica Neue"/>
                <a:cs typeface="Helvetica Neue"/>
              </a:rPr>
              <a:t>Una causa reúne información que cambia y debe mantenerse conectada.</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c9399bd4b4747d6"/>
          <a:stretch xmlns:a="http://schemas.openxmlformats.org/drawingml/2006/main"/>
        </p:blipFill>
        <p:spPr>
          <a:xfrm xmlns:a="http://schemas.openxmlformats.org/drawingml/2006/main">
            <a:off x="952500" y="2619375"/>
            <a:ext cx="876300" cy="876300"/>
          </a:xfrm>
          <a:prstGeom xmlns:a="http://schemas.openxmlformats.org/drawingml/2006/main" prst="roundRect">
            <a:avLst>
              <a:gd name="adj" fmla="val 8696"/>
            </a:avLst>
          </a:prstGeom>
        </p:spPr>
      </p:pic>
      <p:sp>
        <p:nvSpPr>
          <p:cNvPr id="8" name="">
            <a:extLst xmlns:a="http://schemas.openxmlformats.org/drawingml/2006/main">
              <a:ext uri="{FF2B5EF4-FFF2-40B4-BE49-F238E27FC236}">
                <a16:creationId xmlns:a16="http://schemas.microsoft.com/office/drawing/2014/main" id="{94EAEF46-79BF-4FA3-91A2-C878E4B2466F}"/>
              </a:ext>
            </a:extLst>
          </p:cNvPr>
          <p:cNvSpPr>
            <a:spLocks xmlns:a="http://schemas.openxmlformats.org/drawingml/2006/main" noGrp="1"/>
          </p:cNvSpPr>
          <p:nvPr/>
        </p:nvSpPr>
        <p:spPr>
          <a:xfrm xmlns:a="http://schemas.openxmlformats.org/drawingml/2006/main">
            <a:off x="714375" y="3695700"/>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ctr">
              <a:defRPr sz="1350" b="1">
                <a:solidFill>
                  <a:srgbClr val="42C7B9"/>
                </a:solidFill>
                <a:latin typeface="Helvetica Neue"/>
                <a:ea typeface="Helvetica Neue"/>
                <a:cs typeface="Helvetica Neue"/>
              </a:defRPr>
            </a:pPr>
            <a:r>
              <a:rPr sz="1350" b="1">
                <a:solidFill>
                  <a:srgbClr val="42C7B9"/>
                </a:solidFill>
                <a:latin typeface="Helvetica Neue"/>
                <a:ea typeface="Helvetica Neue"/>
                <a:cs typeface="Helvetica Neue"/>
              </a:rPr>
              <a:t>Fechas</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128b22e1ce314297"/>
          <a:stretch xmlns:a="http://schemas.openxmlformats.org/drawingml/2006/main"/>
        </p:blipFill>
        <p:spPr>
          <a:xfrm xmlns:a="http://schemas.openxmlformats.org/drawingml/2006/main">
            <a:off x="3657600" y="2619375"/>
            <a:ext cx="876300" cy="876300"/>
          </a:xfrm>
          <a:prstGeom xmlns:a="http://schemas.openxmlformats.org/drawingml/2006/main" prst="roundRect">
            <a:avLst>
              <a:gd name="adj" fmla="val 8696"/>
            </a:avLst>
          </a:prstGeom>
        </p:spPr>
      </p:pic>
      <p:sp>
        <p:nvSpPr>
          <p:cNvPr id="10" name="">
            <a:extLst xmlns:a="http://schemas.openxmlformats.org/drawingml/2006/main">
              <a:ext uri="{FF2B5EF4-FFF2-40B4-BE49-F238E27FC236}">
                <a16:creationId xmlns:a16="http://schemas.microsoft.com/office/drawing/2014/main" id="{C1C0308D-4365-4114-9E92-0E69FDA8533B}"/>
              </a:ext>
            </a:extLst>
          </p:cNvPr>
          <p:cNvSpPr>
            <a:spLocks xmlns:a="http://schemas.openxmlformats.org/drawingml/2006/main" noGrp="1"/>
          </p:cNvSpPr>
          <p:nvPr/>
        </p:nvSpPr>
        <p:spPr>
          <a:xfrm xmlns:a="http://schemas.openxmlformats.org/drawingml/2006/main">
            <a:off x="3419475" y="3695700"/>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ctr">
              <a:defRPr sz="1350" b="1">
                <a:solidFill>
                  <a:srgbClr val="42C7B9"/>
                </a:solidFill>
                <a:latin typeface="Helvetica Neue"/>
                <a:ea typeface="Helvetica Neue"/>
                <a:cs typeface="Helvetica Neue"/>
              </a:defRPr>
            </a:pPr>
            <a:r>
              <a:rPr sz="1350" b="1">
                <a:solidFill>
                  <a:srgbClr val="42C7B9"/>
                </a:solidFill>
                <a:latin typeface="Helvetica Neue"/>
                <a:ea typeface="Helvetica Neue"/>
                <a:cs typeface="Helvetica Neue"/>
              </a:rPr>
              <a:t>Documentos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55606a4d9eb745c3"/>
          <a:stretch xmlns:a="http://schemas.openxmlformats.org/drawingml/2006/main"/>
        </p:blipFill>
        <p:spPr>
          <a:xfrm xmlns:a="http://schemas.openxmlformats.org/drawingml/2006/main">
            <a:off x="6362700" y="2619375"/>
            <a:ext cx="876300" cy="876300"/>
          </a:xfrm>
          <a:prstGeom xmlns:a="http://schemas.openxmlformats.org/drawingml/2006/main" prst="roundRect">
            <a:avLst>
              <a:gd name="adj" fmla="val 8696"/>
            </a:avLst>
          </a:prstGeom>
        </p:spPr>
      </p:pic>
      <p:sp>
        <p:nvSpPr>
          <p:cNvPr id="12" name="">
            <a:extLst xmlns:a="http://schemas.openxmlformats.org/drawingml/2006/main">
              <a:ext uri="{FF2B5EF4-FFF2-40B4-BE49-F238E27FC236}">
                <a16:creationId xmlns:a16="http://schemas.microsoft.com/office/drawing/2014/main" id="{0743FAFD-3113-4255-B93E-1E54A8D426F4}"/>
              </a:ext>
            </a:extLst>
          </p:cNvPr>
          <p:cNvSpPr>
            <a:spLocks xmlns:a="http://schemas.openxmlformats.org/drawingml/2006/main" noGrp="1"/>
          </p:cNvSpPr>
          <p:nvPr/>
        </p:nvSpPr>
        <p:spPr>
          <a:xfrm xmlns:a="http://schemas.openxmlformats.org/drawingml/2006/main">
            <a:off x="6124575" y="3695700"/>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ctr">
              <a:defRPr sz="1350" b="1">
                <a:solidFill>
                  <a:srgbClr val="42C7B9"/>
                </a:solidFill>
                <a:latin typeface="Helvetica Neue"/>
                <a:ea typeface="Helvetica Neue"/>
                <a:cs typeface="Helvetica Neue"/>
              </a:defRPr>
            </a:pPr>
            <a:r>
              <a:rPr sz="1350" b="1">
                <a:solidFill>
                  <a:srgbClr val="42C7B9"/>
                </a:solidFill>
                <a:latin typeface="Helvetica Neue"/>
                <a:ea typeface="Helvetica Neue"/>
                <a:cs typeface="Helvetica Neue"/>
              </a:rPr>
              <a:t>Movimientos</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0dbd9f51d9094514"/>
          <a:stretch xmlns:a="http://schemas.openxmlformats.org/drawingml/2006/main"/>
        </p:blipFill>
        <p:spPr>
          <a:xfrm xmlns:a="http://schemas.openxmlformats.org/drawingml/2006/main">
            <a:off x="9067800" y="2619375"/>
            <a:ext cx="876300" cy="876300"/>
          </a:xfrm>
          <a:prstGeom xmlns:a="http://schemas.openxmlformats.org/drawingml/2006/main" prst="roundRect">
            <a:avLst>
              <a:gd name="adj" fmla="val 8696"/>
            </a:avLst>
          </a:prstGeom>
        </p:spPr>
      </p:pic>
      <p:sp>
        <p:nvSpPr>
          <p:cNvPr id="14" name="">
            <a:extLst xmlns:a="http://schemas.openxmlformats.org/drawingml/2006/main">
              <a:ext uri="{FF2B5EF4-FFF2-40B4-BE49-F238E27FC236}">
                <a16:creationId xmlns:a16="http://schemas.microsoft.com/office/drawing/2014/main" id="{E8EE6BBA-8A62-4FB5-83CC-F5B081B5EE27}"/>
              </a:ext>
            </a:extLst>
          </p:cNvPr>
          <p:cNvSpPr>
            <a:spLocks xmlns:a="http://schemas.openxmlformats.org/drawingml/2006/main" noGrp="1"/>
          </p:cNvSpPr>
          <p:nvPr/>
        </p:nvSpPr>
        <p:spPr>
          <a:xfrm xmlns:a="http://schemas.openxmlformats.org/drawingml/2006/main">
            <a:off x="8829675" y="3695700"/>
            <a:ext cx="13525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ctr">
              <a:defRPr sz="1350" b="1">
                <a:solidFill>
                  <a:srgbClr val="42C7B9"/>
                </a:solidFill>
                <a:latin typeface="Helvetica Neue"/>
                <a:ea typeface="Helvetica Neue"/>
                <a:cs typeface="Helvetica Neue"/>
              </a:defRPr>
            </a:pPr>
            <a:r>
              <a:rPr sz="1350" b="1">
                <a:solidFill>
                  <a:srgbClr val="42C7B9"/>
                </a:solidFill>
                <a:latin typeface="Helvetica Neue"/>
                <a:ea typeface="Helvetica Neue"/>
                <a:cs typeface="Helvetica Neue"/>
              </a:rPr>
              <a:t>Comunicación</a:t>
            </a:r>
          </a:p>
        </p:txBody>
      </p:sp>
      <p:sp>
        <p:nvSpPr>
          <p:cNvPr id="15" name="">
            <a:extLst xmlns:a="http://schemas.openxmlformats.org/drawingml/2006/main">
              <a:ext uri="{FF2B5EF4-FFF2-40B4-BE49-F238E27FC236}">
                <a16:creationId xmlns:a16="http://schemas.microsoft.com/office/drawing/2014/main" id="{8DF05432-D413-4419-ACCF-1B4F1810A15C}"/>
              </a:ext>
            </a:extLst>
          </p:cNvPr>
          <p:cNvSpPr>
            <a:spLocks xmlns:a="http://schemas.openxmlformats.org/drawingml/2006/main" noGrp="1"/>
          </p:cNvSpPr>
          <p:nvPr/>
        </p:nvSpPr>
        <p:spPr>
          <a:xfrm xmlns:a="http://schemas.openxmlformats.org/drawingml/2006/main">
            <a:off x="1181100" y="4629150"/>
            <a:ext cx="9829800" cy="19050"/>
          </a:xfrm>
          <a:prstGeom xmlns:a="http://schemas.openxmlformats.org/drawingml/2006/main" prst="rect">
            <a:avLst/>
          </a:prstGeom>
          <a:solidFill xmlns:a="http://schemas.openxmlformats.org/drawingml/2006/main">
            <a:srgbClr val="2A3440"/>
          </a:solidFill>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0093C19B-C09E-4C7E-8D5C-166C7AC07D02}"/>
              </a:ext>
            </a:extLst>
          </p:cNvPr>
          <p:cNvSpPr>
            <a:spLocks xmlns:a="http://schemas.openxmlformats.org/drawingml/2006/main" noGrp="1"/>
          </p:cNvSpPr>
          <p:nvPr/>
        </p:nvSpPr>
        <p:spPr>
          <a:xfrm xmlns:a="http://schemas.openxmlformats.org/drawingml/2006/main">
            <a:off x="685800" y="50482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8FA8FF"/>
                </a:solidFill>
                <a:latin typeface="Helvetica Neue"/>
                <a:ea typeface="Helvetica Neue"/>
                <a:cs typeface="Helvetica Neue"/>
              </a:defRPr>
            </a:pPr>
            <a:r>
              <a:rPr sz="1575" b="1">
                <a:solidFill>
                  <a:srgbClr val="8FA8FF"/>
                </a:solidFill>
                <a:latin typeface="Helvetica Neue"/>
                <a:ea typeface="Helvetica Neue"/>
                <a:cs typeface="Helvetica Neue"/>
              </a:rPr>
              <a:t>LEX-CORPUS</a:t>
            </a:r>
          </a:p>
        </p:txBody>
      </p:sp>
      <p:sp>
        <p:nvSpPr>
          <p:cNvPr id="17" name="">
            <a:extLst xmlns:a="http://schemas.openxmlformats.org/drawingml/2006/main">
              <a:ext uri="{FF2B5EF4-FFF2-40B4-BE49-F238E27FC236}">
                <a16:creationId xmlns:a16="http://schemas.microsoft.com/office/drawing/2014/main" id="{40AEE6BF-D415-459C-B43D-A03BA63A46FB}"/>
              </a:ext>
            </a:extLst>
          </p:cNvPr>
          <p:cNvSpPr>
            <a:spLocks xmlns:a="http://schemas.openxmlformats.org/drawingml/2006/main" noGrp="1"/>
          </p:cNvSpPr>
          <p:nvPr/>
        </p:nvSpPr>
        <p:spPr>
          <a:xfrm xmlns:a="http://schemas.openxmlformats.org/drawingml/2006/main">
            <a:off x="3162300" y="5048250"/>
            <a:ext cx="7524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b="1">
                <a:solidFill>
                  <a:srgbClr val="F4F7FA"/>
                </a:solidFill>
                <a:latin typeface="Helvetica Neue"/>
                <a:ea typeface="Helvetica Neue"/>
                <a:cs typeface="Helvetica Neue"/>
              </a:defRPr>
            </a:pPr>
            <a:r>
              <a:rPr sz="1650" b="1">
                <a:solidFill>
                  <a:srgbClr val="F4F7FA"/>
                </a:solidFill>
                <a:latin typeface="Helvetica Neue"/>
                <a:ea typeface="Helvetica Neue"/>
                <a:cs typeface="Helvetica Neue"/>
              </a:rPr>
              <a:t>Organiza el seguimiento y comparte con el cliente información confirmada.</a:t>
            </a:r>
          </a:p>
        </p:txBody>
      </p:sp>
      <p:sp>
        <p:nvSpPr>
          <p:cNvPr id="18" name="">
            <a:extLst xmlns:a="http://schemas.openxmlformats.org/drawingml/2006/main">
              <a:ext uri="{FF2B5EF4-FFF2-40B4-BE49-F238E27FC236}">
                <a16:creationId xmlns:a16="http://schemas.microsoft.com/office/drawing/2014/main" id="{32749774-EAB1-4D92-8738-F5408D972CC6}"/>
              </a:ext>
            </a:extLst>
          </p:cNvPr>
          <p:cNvSpPr>
            <a:spLocks xmlns:a="http://schemas.openxmlformats.org/drawingml/2006/main" noGrp="1"/>
          </p:cNvSpPr>
          <p:nvPr/>
        </p:nvSpPr>
        <p:spPr>
          <a:xfrm xmlns:a="http://schemas.openxmlformats.org/drawingml/2006/main">
            <a:off x="3162300" y="5524500"/>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a:solidFill>
                  <a:srgbClr val="7DD3A7"/>
                </a:solidFill>
                <a:latin typeface="Helvetica Neue"/>
                <a:ea typeface="Helvetica Neue"/>
                <a:cs typeface="Helvetica Neue"/>
              </a:defRPr>
            </a:pPr>
            <a:r>
              <a:rPr sz="1350">
                <a:solidFill>
                  <a:srgbClr val="7DD3A7"/>
                </a:solidFill>
                <a:latin typeface="Helvetica Neue"/>
                <a:ea typeface="Helvetica Neue"/>
                <a:cs typeface="Helvetica Neue"/>
              </a:rPr>
              <a:t>Complementa al SAJ y no modifica datos oficiales.</a:t>
            </a:r>
          </a:p>
        </p:txBody>
      </p:sp>
    </p:spTree>
    <p:extLst>
      <p:ext uri="{BB962C8B-B14F-4D97-AF65-F5344CB8AC3E}">
        <p14:creationId xmlns:p14="http://schemas.microsoft.com/office/powerpoint/2010/main" val="1689557517"/>
      </p:ext>
    </p:extLst>
  </p:cSld>
</p:sld>
</file>

<file path=ppt/slides/slide3.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49795012-8688-4B1F-BE20-AD067427C1C7}"/>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42C7B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39CADBE-11A2-4A62-8A57-0541AD97F55D}"/>
              </a:ext>
            </a:extLst>
          </p:cNvPr>
          <p:cNvSpPr>
            <a:spLocks xmlns:a="http://schemas.openxmlformats.org/drawingml/2006/main" noGrp="1"/>
          </p:cNvSpPr>
          <p:nvPr/>
        </p:nvSpPr>
        <p:spPr>
          <a:xfrm xmlns:a="http://schemas.openxmlformats.org/drawingml/2006/main">
            <a:off x="685800" y="37147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spc="1">
                <a:solidFill>
                  <a:srgbClr val="8FA8FF"/>
                </a:solidFill>
                <a:latin typeface="Helvetica Neue"/>
                <a:ea typeface="Helvetica Neue"/>
                <a:cs typeface="Helvetica Neue"/>
              </a:defRPr>
            </a:pPr>
            <a:r>
              <a:rPr sz="900" b="1" spc="1">
                <a:solidFill>
                  <a:srgbClr val="8FA8FF"/>
                </a:solidFill>
                <a:latin typeface="Helvetica Neue"/>
                <a:ea typeface="Helvetica Neue"/>
                <a:cs typeface="Helvetica Neue"/>
              </a:rPr>
              <a:t>ALCANCE</a:t>
            </a:r>
          </a:p>
        </p:txBody>
      </p:sp>
      <p:sp>
        <p:nvSpPr>
          <p:cNvPr id="3" name="">
            <a:extLst xmlns:a="http://schemas.openxmlformats.org/drawingml/2006/main">
              <a:ext uri="{FF2B5EF4-FFF2-40B4-BE49-F238E27FC236}">
                <a16:creationId xmlns:a16="http://schemas.microsoft.com/office/drawing/2014/main" id="{082A4AB9-75B2-4305-81D7-70484F641488}"/>
              </a:ext>
            </a:extLst>
          </p:cNvPr>
          <p:cNvSpPr>
            <a:spLocks xmlns:a="http://schemas.openxmlformats.org/drawingml/2006/main" noGrp="1"/>
          </p:cNvSpPr>
          <p:nvPr/>
        </p:nvSpPr>
        <p:spPr>
          <a:xfrm xmlns:a="http://schemas.openxmlformats.org/drawingml/2006/main">
            <a:off x="9906000" y="371475"/>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r">
              <a:defRPr sz="900" b="1">
                <a:solidFill>
                  <a:srgbClr val="AEB8C4"/>
                </a:solidFill>
                <a:latin typeface="Helvetica Neue"/>
                <a:ea typeface="Helvetica Neue"/>
                <a:cs typeface="Helvetica Neue"/>
              </a:defRPr>
            </a:pPr>
            <a:r>
              <a:rPr sz="900" b="1">
                <a:solidFill>
                  <a:srgbClr val="AEB8C4"/>
                </a:solidFill>
                <a:latin typeface="Helvetica Neue"/>
                <a:ea typeface="Helvetica Neue"/>
                <a:cs typeface="Helvetica Neue"/>
              </a:rPr>
              <a:t>Sebastián</a:t>
            </a:r>
          </a:p>
        </p:txBody>
      </p:sp>
      <p:sp>
        <p:nvSpPr>
          <p:cNvPr id="4" name="">
            <a:extLst xmlns:a="http://schemas.openxmlformats.org/drawingml/2006/main">
              <a:ext uri="{FF2B5EF4-FFF2-40B4-BE49-F238E27FC236}">
                <a16:creationId xmlns:a16="http://schemas.microsoft.com/office/drawing/2014/main" id="{621840BF-D58F-4616-9A5A-A24E3B9D4566}"/>
              </a:ext>
            </a:extLst>
          </p:cNvPr>
          <p:cNvSpPr>
            <a:spLocks xmlns:a="http://schemas.openxmlformats.org/drawingml/2006/main" noGrp="1"/>
          </p:cNvSpPr>
          <p:nvPr/>
        </p:nvSpPr>
        <p:spPr>
          <a:xfrm xmlns:a="http://schemas.openxmlformats.org/drawingml/2006/main">
            <a:off x="10906125" y="643890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lgn="r">
              <a:defRPr sz="825" b="1">
                <a:solidFill>
                  <a:srgbClr val="AEB8C4"/>
                </a:solidFill>
                <a:latin typeface="Helvetica Neue"/>
                <a:ea typeface="Helvetica Neue"/>
                <a:cs typeface="Helvetica Neue"/>
              </a:defRPr>
            </a:pPr>
            <a:r>
              <a:rPr sz="825" b="1">
                <a:solidFill>
                  <a:srgbClr val="AEB8C4"/>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BFA14A7A-E908-4A0E-8666-4DE69A92BAE2}"/>
              </a:ext>
            </a:extLst>
          </p:cNvPr>
          <p:cNvSpPr>
            <a:spLocks xmlns:a="http://schemas.openxmlformats.org/drawingml/2006/main" noGrp="1"/>
          </p:cNvSpPr>
          <p:nvPr/>
        </p:nvSpPr>
        <p:spPr>
          <a:xfrm xmlns:a="http://schemas.openxmlformats.org/drawingml/2006/main">
            <a:off x="685800" y="914400"/>
            <a:ext cx="723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72"/>
          </a:bodyPr>
          <a:lstStyle xmlns:a="http://schemas.openxmlformats.org/drawingml/2006/main"/>
          <a:p xmlns:a="http://schemas.openxmlformats.org/drawingml/2006/main">
            <a:pPr>
              <a:defRPr sz="2925" b="1">
                <a:solidFill>
                  <a:srgbClr val="F4F7FA"/>
                </a:solidFill>
                <a:latin typeface="Helvetica Neue"/>
                <a:ea typeface="Helvetica Neue"/>
                <a:cs typeface="Helvetica Neue"/>
              </a:defRPr>
            </a:pPr>
            <a:r>
              <a:rPr sz="2925" b="1">
                <a:solidFill>
                  <a:srgbClr val="F4F7FA"/>
                </a:solidFill>
                <a:latin typeface="Helvetica Neue"/>
                <a:ea typeface="Helvetica Neue"/>
                <a:cs typeface="Helvetica Neue"/>
              </a:rPr>
              <a:t>Alcance de la primera versión</a:t>
            </a:r>
          </a:p>
        </p:txBody>
      </p:sp>
      <p:sp>
        <p:nvSpPr>
          <p:cNvPr id="6" name="">
            <a:extLst xmlns:a="http://schemas.openxmlformats.org/drawingml/2006/main">
              <a:ext uri="{FF2B5EF4-FFF2-40B4-BE49-F238E27FC236}">
                <a16:creationId xmlns:a16="http://schemas.microsoft.com/office/drawing/2014/main" id="{647AE286-B3C6-4DA0-A6E9-8295DF1379F1}"/>
              </a:ext>
            </a:extLst>
          </p:cNvPr>
          <p:cNvSpPr>
            <a:spLocks xmlns:a="http://schemas.openxmlformats.org/drawingml/2006/main" noGrp="1"/>
          </p:cNvSpPr>
          <p:nvPr/>
        </p:nvSpPr>
        <p:spPr>
          <a:xfrm xmlns:a="http://schemas.openxmlformats.org/drawingml/2006/main">
            <a:off x="685800" y="1619250"/>
            <a:ext cx="6858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a:solidFill>
                  <a:srgbClr val="AEB8C4"/>
                </a:solidFill>
                <a:latin typeface="Helvetica Neue"/>
                <a:ea typeface="Helvetica Neue"/>
                <a:cs typeface="Helvetica Neue"/>
              </a:defRPr>
            </a:pPr>
            <a:r>
              <a:rPr sz="1650">
                <a:solidFill>
                  <a:srgbClr val="AEB8C4"/>
                </a:solidFill>
                <a:latin typeface="Helvetica Neue"/>
                <a:ea typeface="Helvetica Neue"/>
                <a:cs typeface="Helvetica Neue"/>
              </a:rPr>
              <a:t>Dos perfiles con responsabilidades claramente separadas.</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d5b3137b3d7e4f3e"/>
          <a:stretch xmlns:a="http://schemas.openxmlformats.org/drawingml/2006/main"/>
        </p:blipFill>
        <p:spPr>
          <a:xfrm xmlns:a="http://schemas.openxmlformats.org/drawingml/2006/main">
            <a:off x="1581150" y="2457450"/>
            <a:ext cx="1047750" cy="1047750"/>
          </a:xfrm>
          <a:prstGeom xmlns:a="http://schemas.openxmlformats.org/drawingml/2006/main" prst="roundRect">
            <a:avLst>
              <a:gd name="adj" fmla="val 7273"/>
            </a:avLst>
          </a:prstGeom>
        </p:spPr>
      </p:pic>
      <p:sp>
        <p:nvSpPr>
          <p:cNvPr id="8" name="">
            <a:extLst xmlns:a="http://schemas.openxmlformats.org/drawingml/2006/main">
              <a:ext uri="{FF2B5EF4-FFF2-40B4-BE49-F238E27FC236}">
                <a16:creationId xmlns:a16="http://schemas.microsoft.com/office/drawing/2014/main" id="{BB1EAA4E-D69E-4C25-BD45-48409EF0D400}"/>
              </a:ext>
            </a:extLst>
          </p:cNvPr>
          <p:cNvSpPr>
            <a:spLocks xmlns:a="http://schemas.openxmlformats.org/drawingml/2006/main" noGrp="1"/>
          </p:cNvSpPr>
          <p:nvPr/>
        </p:nvSpPr>
        <p:spPr>
          <a:xfrm xmlns:a="http://schemas.openxmlformats.org/drawingml/2006/main">
            <a:off x="1066800" y="37147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ctr">
              <a:defRPr sz="1350" b="1">
                <a:solidFill>
                  <a:srgbClr val="8FA8FF"/>
                </a:solidFill>
                <a:latin typeface="Helvetica Neue"/>
                <a:ea typeface="Helvetica Neue"/>
                <a:cs typeface="Helvetica Neue"/>
              </a:defRPr>
            </a:pPr>
            <a:r>
              <a:rPr sz="1350" b="1">
                <a:solidFill>
                  <a:srgbClr val="8FA8FF"/>
                </a:solidFill>
                <a:latin typeface="Helvetica Neue"/>
                <a:ea typeface="Helvetica Neue"/>
                <a:cs typeface="Helvetica Neue"/>
              </a:rPr>
              <a:t>ABOGADO</a:t>
            </a:r>
          </a:p>
        </p:txBody>
      </p:sp>
      <p:sp>
        <p:nvSpPr>
          <p:cNvPr id="9" name="">
            <a:extLst xmlns:a="http://schemas.openxmlformats.org/drawingml/2006/main">
              <a:ext uri="{FF2B5EF4-FFF2-40B4-BE49-F238E27FC236}">
                <a16:creationId xmlns:a16="http://schemas.microsoft.com/office/drawing/2014/main" id="{020A24E6-D5BE-4EFB-8397-388352DF9902}"/>
              </a:ext>
            </a:extLst>
          </p:cNvPr>
          <p:cNvSpPr>
            <a:spLocks xmlns:a="http://schemas.openxmlformats.org/drawingml/2006/main" noGrp="1"/>
          </p:cNvSpPr>
          <p:nvPr/>
        </p:nvSpPr>
        <p:spPr>
          <a:xfrm xmlns:a="http://schemas.openxmlformats.org/drawingml/2006/main">
            <a:off x="876300" y="4191000"/>
            <a:ext cx="2476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a:solidFill>
                  <a:srgbClr val="F4F7FA"/>
                </a:solidFill>
                <a:latin typeface="Helvetica Neue"/>
                <a:ea typeface="Helvetica Neue"/>
                <a:cs typeface="Helvetica Neue"/>
              </a:defRPr>
            </a:pPr>
            <a:r>
              <a:rPr sz="1575">
                <a:solidFill>
                  <a:srgbClr val="F4F7FA"/>
                </a:solidFill>
                <a:latin typeface="Helvetica Neue"/>
                <a:ea typeface="Helvetica Neue"/>
                <a:cs typeface="Helvetica Neue"/>
              </a:rPr>
              <a:t>Gestiona causas</a:t>
            </a:r>
          </a:p>
          <a:p xmlns:a="http://schemas.openxmlformats.org/drawingml/2006/main">
            <a:pPr algn="ctr">
              <a:defRPr sz="1575">
                <a:solidFill>
                  <a:srgbClr val="F4F7FA"/>
                </a:solidFill>
                <a:latin typeface="Helvetica Neue"/>
                <a:ea typeface="Helvetica Neue"/>
                <a:cs typeface="Helvetica Neue"/>
              </a:defRPr>
            </a:pPr>
            <a:r>
              <a:rPr sz="1575">
                <a:solidFill>
                  <a:srgbClr val="F4F7FA"/>
                </a:solidFill>
                <a:latin typeface="Helvetica Neue"/>
                <a:ea typeface="Helvetica Neue"/>
                <a:cs typeface="Helvetica Neue"/>
              </a:rPr>
              <a:t>Revisa pendientes</a:t>
            </a:r>
          </a:p>
          <a:p xmlns:a="http://schemas.openxmlformats.org/drawingml/2006/main">
            <a:pPr algn="ctr">
              <a:defRPr sz="1575">
                <a:solidFill>
                  <a:srgbClr val="F4F7FA"/>
                </a:solidFill>
                <a:latin typeface="Helvetica Neue"/>
                <a:ea typeface="Helvetica Neue"/>
                <a:cs typeface="Helvetica Neue"/>
              </a:defRPr>
            </a:pPr>
            <a:r>
              <a:rPr sz="1575">
                <a:solidFill>
                  <a:srgbClr val="F4F7FA"/>
                </a:solidFill>
                <a:latin typeface="Helvetica Neue"/>
                <a:ea typeface="Helvetica Neue"/>
                <a:cs typeface="Helvetica Neue"/>
              </a:rPr>
              <a:t>Confirma movimientos</a:t>
            </a:r>
          </a:p>
        </p:txBody>
      </p:sp>
      <p:sp>
        <p:nvSpPr>
          <p:cNvPr id="10" name="">
            <a:extLst xmlns:a="http://schemas.openxmlformats.org/drawingml/2006/main">
              <a:ext uri="{FF2B5EF4-FFF2-40B4-BE49-F238E27FC236}">
                <a16:creationId xmlns:a16="http://schemas.microsoft.com/office/drawing/2014/main" id="{621B5CFC-E424-4FD5-99C9-A4BD4CD09874}"/>
              </a:ext>
            </a:extLst>
          </p:cNvPr>
          <p:cNvSpPr>
            <a:spLocks xmlns:a="http://schemas.openxmlformats.org/drawingml/2006/main" noGrp="1"/>
          </p:cNvSpPr>
          <p:nvPr/>
        </p:nvSpPr>
        <p:spPr>
          <a:xfrm xmlns:a="http://schemas.openxmlformats.org/drawingml/2006/main">
            <a:off x="4019550" y="2400300"/>
            <a:ext cx="19050" cy="2857500"/>
          </a:xfrm>
          <a:prstGeom xmlns:a="http://schemas.openxmlformats.org/drawingml/2006/main" prst="rect">
            <a:avLst/>
          </a:prstGeom>
          <a:solidFill xmlns:a="http://schemas.openxmlformats.org/drawingml/2006/main">
            <a:srgbClr val="2A3440"/>
          </a:solidFill>
          <a:ln xmlns:a="http://schemas.openxmlformats.org/drawingml/2006/main" w="0">
            <a:noFill/>
          </a:ln>
        </p:spPr>
      </p:sp>
      <p:pic>
        <p:nvPicPr>
          <p:cNvPr id="30" name=""/>
          <p:cNvPicPr>
            <a:picLocks xmlns:a="http://schemas.openxmlformats.org/drawingml/2006/main" noChangeAspect="1"/>
          </p:cNvPicPr>
          <p:nvPr/>
        </p:nvPicPr>
        <p:blipFill>
          <a:blip xmlns:r="http://schemas.openxmlformats.org/officeDocument/2006/relationships" xmlns:a="http://schemas.openxmlformats.org/drawingml/2006/main" r:embed="R13bfd817fbb545b2"/>
          <a:stretch xmlns:a="http://schemas.openxmlformats.org/drawingml/2006/main"/>
        </p:blipFill>
        <p:spPr>
          <a:xfrm xmlns:a="http://schemas.openxmlformats.org/drawingml/2006/main">
            <a:off x="5391150" y="2457450"/>
            <a:ext cx="1047750" cy="1047750"/>
          </a:xfrm>
          <a:prstGeom xmlns:a="http://schemas.openxmlformats.org/drawingml/2006/main" prst="roundRect">
            <a:avLst>
              <a:gd name="adj" fmla="val 7273"/>
            </a:avLst>
          </a:prstGeom>
        </p:spPr>
      </p:pic>
      <p:sp>
        <p:nvSpPr>
          <p:cNvPr id="12" name="">
            <a:extLst xmlns:a="http://schemas.openxmlformats.org/drawingml/2006/main">
              <a:ext uri="{FF2B5EF4-FFF2-40B4-BE49-F238E27FC236}">
                <a16:creationId xmlns:a16="http://schemas.microsoft.com/office/drawing/2014/main" id="{07024A60-5D8F-4018-BF47-A0F02A18E7AD}"/>
              </a:ext>
            </a:extLst>
          </p:cNvPr>
          <p:cNvSpPr>
            <a:spLocks xmlns:a="http://schemas.openxmlformats.org/drawingml/2006/main" noGrp="1"/>
          </p:cNvSpPr>
          <p:nvPr/>
        </p:nvSpPr>
        <p:spPr>
          <a:xfrm xmlns:a="http://schemas.openxmlformats.org/drawingml/2006/main">
            <a:off x="4876800" y="3714750"/>
            <a:ext cx="2095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lgn="ctr">
              <a:defRPr sz="1350" b="1">
                <a:solidFill>
                  <a:srgbClr val="8FA8FF"/>
                </a:solidFill>
                <a:latin typeface="Helvetica Neue"/>
                <a:ea typeface="Helvetica Neue"/>
                <a:cs typeface="Helvetica Neue"/>
              </a:defRPr>
            </a:pPr>
            <a:r>
              <a:rPr sz="1350" b="1">
                <a:solidFill>
                  <a:srgbClr val="8FA8FF"/>
                </a:solidFill>
                <a:latin typeface="Helvetica Neue"/>
                <a:ea typeface="Helvetica Neue"/>
                <a:cs typeface="Helvetica Neue"/>
              </a:rPr>
              <a:t>CLIENTE</a:t>
            </a:r>
          </a:p>
        </p:txBody>
      </p:sp>
      <p:sp>
        <p:nvSpPr>
          <p:cNvPr id="13" name="">
            <a:extLst xmlns:a="http://schemas.openxmlformats.org/drawingml/2006/main">
              <a:ext uri="{FF2B5EF4-FFF2-40B4-BE49-F238E27FC236}">
                <a16:creationId xmlns:a16="http://schemas.microsoft.com/office/drawing/2014/main" id="{648BF1F5-8180-4380-97B7-2643D9AB64BF}"/>
              </a:ext>
            </a:extLst>
          </p:cNvPr>
          <p:cNvSpPr>
            <a:spLocks xmlns:a="http://schemas.openxmlformats.org/drawingml/2006/main" noGrp="1"/>
          </p:cNvSpPr>
          <p:nvPr/>
        </p:nvSpPr>
        <p:spPr>
          <a:xfrm xmlns:a="http://schemas.openxmlformats.org/drawingml/2006/main">
            <a:off x="4686300" y="4191000"/>
            <a:ext cx="247650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lgn="ctr">
              <a:defRPr sz="1575">
                <a:solidFill>
                  <a:srgbClr val="F4F7FA"/>
                </a:solidFill>
                <a:latin typeface="Helvetica Neue"/>
                <a:ea typeface="Helvetica Neue"/>
                <a:cs typeface="Helvetica Neue"/>
              </a:defRPr>
            </a:pPr>
            <a:r>
              <a:rPr sz="1575">
                <a:solidFill>
                  <a:srgbClr val="F4F7FA"/>
                </a:solidFill>
                <a:latin typeface="Helvetica Neue"/>
                <a:ea typeface="Helvetica Neue"/>
                <a:cs typeface="Helvetica Neue"/>
              </a:rPr>
              <a:t>Consulta sus causas</a:t>
            </a:r>
          </a:p>
          <a:p xmlns:a="http://schemas.openxmlformats.org/drawingml/2006/main">
            <a:pPr algn="ctr">
              <a:defRPr sz="1575">
                <a:solidFill>
                  <a:srgbClr val="F4F7FA"/>
                </a:solidFill>
                <a:latin typeface="Helvetica Neue"/>
                <a:ea typeface="Helvetica Neue"/>
                <a:cs typeface="Helvetica Neue"/>
              </a:defRPr>
            </a:pPr>
            <a:r>
              <a:rPr sz="1575">
                <a:solidFill>
                  <a:srgbClr val="F4F7FA"/>
                </a:solidFill>
                <a:latin typeface="Helvetica Neue"/>
                <a:ea typeface="Helvetica Neue"/>
                <a:cs typeface="Helvetica Neue"/>
              </a:rPr>
              <a:t>Revisa el historial</a:t>
            </a:r>
          </a:p>
          <a:p xmlns:a="http://schemas.openxmlformats.org/drawingml/2006/main">
            <a:pPr algn="ctr">
              <a:defRPr sz="1575">
                <a:solidFill>
                  <a:srgbClr val="F4F7FA"/>
                </a:solidFill>
                <a:latin typeface="Helvetica Neue"/>
                <a:ea typeface="Helvetica Neue"/>
                <a:cs typeface="Helvetica Neue"/>
              </a:defRPr>
            </a:pPr>
            <a:r>
              <a:rPr sz="1575">
                <a:solidFill>
                  <a:srgbClr val="F4F7FA"/>
                </a:solidFill>
                <a:latin typeface="Helvetica Neue"/>
                <a:ea typeface="Helvetica Neue"/>
                <a:cs typeface="Helvetica Neue"/>
              </a:rPr>
              <a:t>Entrega documentos</a:t>
            </a:r>
          </a:p>
        </p:txBody>
      </p:sp>
      <p:sp>
        <p:nvSpPr>
          <p:cNvPr id="14" name="">
            <a:extLst xmlns:a="http://schemas.openxmlformats.org/drawingml/2006/main">
              <a:ext uri="{FF2B5EF4-FFF2-40B4-BE49-F238E27FC236}">
                <a16:creationId xmlns:a16="http://schemas.microsoft.com/office/drawing/2014/main" id="{99BDDDC6-DF78-429C-827D-1EEED0BC3DDB}"/>
              </a:ext>
            </a:extLst>
          </p:cNvPr>
          <p:cNvSpPr>
            <a:spLocks xmlns:a="http://schemas.openxmlformats.org/drawingml/2006/main" noGrp="1"/>
          </p:cNvSpPr>
          <p:nvPr/>
        </p:nvSpPr>
        <p:spPr>
          <a:xfrm xmlns:a="http://schemas.openxmlformats.org/drawingml/2006/main">
            <a:off x="7829550" y="2400300"/>
            <a:ext cx="19050" cy="2857500"/>
          </a:xfrm>
          <a:prstGeom xmlns:a="http://schemas.openxmlformats.org/drawingml/2006/main" prst="rect">
            <a:avLst/>
          </a:prstGeom>
          <a:solidFill xmlns:a="http://schemas.openxmlformats.org/drawingml/2006/main">
            <a:srgbClr val="2A3440"/>
          </a:solidFill>
          <a:ln xmlns:a="http://schemas.openxmlformats.org/drawingml/2006/main" w="0">
            <a:noFill/>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0e8f40954ad44100"/>
          <a:stretch xmlns:a="http://schemas.openxmlformats.org/drawingml/2006/main"/>
        </p:blipFill>
        <p:spPr>
          <a:xfrm xmlns:a="http://schemas.openxmlformats.org/drawingml/2006/main">
            <a:off x="8743950" y="2638425"/>
            <a:ext cx="819150" cy="819150"/>
          </a:xfrm>
          <a:prstGeom xmlns:a="http://schemas.openxmlformats.org/drawingml/2006/main" prst="roundRect">
            <a:avLst>
              <a:gd name="adj" fmla="val 9302"/>
            </a:avLst>
          </a:prstGeom>
        </p:spPr>
      </p:pic>
      <p:sp>
        <p:nvSpPr>
          <p:cNvPr id="16" name="">
            <a:extLst xmlns:a="http://schemas.openxmlformats.org/drawingml/2006/main">
              <a:ext uri="{FF2B5EF4-FFF2-40B4-BE49-F238E27FC236}">
                <a16:creationId xmlns:a16="http://schemas.microsoft.com/office/drawing/2014/main" id="{36C28137-E51C-40A6-893E-9E346CB3840E}"/>
              </a:ext>
            </a:extLst>
          </p:cNvPr>
          <p:cNvSpPr>
            <a:spLocks xmlns:a="http://schemas.openxmlformats.org/drawingml/2006/main" noGrp="1"/>
          </p:cNvSpPr>
          <p:nvPr/>
        </p:nvSpPr>
        <p:spPr>
          <a:xfrm xmlns:a="http://schemas.openxmlformats.org/drawingml/2006/main">
            <a:off x="9696450" y="2571750"/>
            <a:ext cx="1066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435"/>
          </a:bodyPr>
          <a:lstStyle xmlns:a="http://schemas.openxmlformats.org/drawingml/2006/main"/>
          <a:p xmlns:a="http://schemas.openxmlformats.org/drawingml/2006/main">
            <a:pPr>
              <a:defRPr sz="3450" b="1">
                <a:solidFill>
                  <a:srgbClr val="42C7B9"/>
                </a:solidFill>
                <a:latin typeface="Helvetica Neue"/>
                <a:ea typeface="Helvetica Neue"/>
                <a:cs typeface="Helvetica Neue"/>
              </a:defRPr>
            </a:pPr>
            <a:r>
              <a:rPr sz="3450" b="1">
                <a:solidFill>
                  <a:srgbClr val="42C7B9"/>
                </a:solidFill>
                <a:latin typeface="Helvetica Neue"/>
                <a:ea typeface="Helvetica Neue"/>
                <a:cs typeface="Helvetica Neue"/>
              </a:rPr>
              <a:t>24</a:t>
            </a:r>
          </a:p>
        </p:txBody>
      </p:sp>
      <p:sp>
        <p:nvSpPr>
          <p:cNvPr id="17" name="">
            <a:extLst xmlns:a="http://schemas.openxmlformats.org/drawingml/2006/main">
              <a:ext uri="{FF2B5EF4-FFF2-40B4-BE49-F238E27FC236}">
                <a16:creationId xmlns:a16="http://schemas.microsoft.com/office/drawing/2014/main" id="{6438C5CF-BE41-4027-BC59-B70A175876FF}"/>
              </a:ext>
            </a:extLst>
          </p:cNvPr>
          <p:cNvSpPr>
            <a:spLocks xmlns:a="http://schemas.openxmlformats.org/drawingml/2006/main" noGrp="1"/>
          </p:cNvSpPr>
          <p:nvPr/>
        </p:nvSpPr>
        <p:spPr>
          <a:xfrm xmlns:a="http://schemas.openxmlformats.org/drawingml/2006/main">
            <a:off x="8743950" y="3562350"/>
            <a:ext cx="21526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185"/>
          </a:bodyPr>
          <a:lstStyle xmlns:a="http://schemas.openxmlformats.org/drawingml/2006/main"/>
          <a:p xmlns:a="http://schemas.openxmlformats.org/drawingml/2006/main">
            <a:pPr>
              <a:defRPr sz="1350" b="1">
                <a:solidFill>
                  <a:srgbClr val="F4F7FA"/>
                </a:solidFill>
                <a:latin typeface="Helvetica Neue"/>
                <a:ea typeface="Helvetica Neue"/>
                <a:cs typeface="Helvetica Neue"/>
              </a:defRPr>
            </a:pPr>
            <a:r>
              <a:rPr sz="1350" b="1">
                <a:solidFill>
                  <a:srgbClr val="F4F7FA"/>
                </a:solidFill>
                <a:latin typeface="Helvetica Neue"/>
                <a:ea typeface="Helvetica Neue"/>
                <a:cs typeface="Helvetica Neue"/>
              </a:rPr>
              <a:t>historias de usuario</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8274ffa734dd4e8a"/>
          <a:stretch xmlns:a="http://schemas.openxmlformats.org/drawingml/2006/main"/>
        </p:blipFill>
        <p:spPr>
          <a:xfrm xmlns:a="http://schemas.openxmlformats.org/drawingml/2006/main">
            <a:off x="8743950" y="4286250"/>
            <a:ext cx="704850" cy="704850"/>
          </a:xfrm>
          <a:prstGeom xmlns:a="http://schemas.openxmlformats.org/drawingml/2006/main" prst="roundRect">
            <a:avLst>
              <a:gd name="adj" fmla="val 10811"/>
            </a:avLst>
          </a:prstGeom>
        </p:spPr>
      </p:pic>
      <p:sp>
        <p:nvSpPr>
          <p:cNvPr id="19" name="">
            <a:extLst xmlns:a="http://schemas.openxmlformats.org/drawingml/2006/main">
              <a:ext uri="{FF2B5EF4-FFF2-40B4-BE49-F238E27FC236}">
                <a16:creationId xmlns:a16="http://schemas.microsoft.com/office/drawing/2014/main" id="{421E278F-AD07-4CAD-B32A-BCD025B2748E}"/>
              </a:ext>
            </a:extLst>
          </p:cNvPr>
          <p:cNvSpPr>
            <a:spLocks xmlns:a="http://schemas.openxmlformats.org/drawingml/2006/main" noGrp="1"/>
          </p:cNvSpPr>
          <p:nvPr/>
        </p:nvSpPr>
        <p:spPr>
          <a:xfrm xmlns:a="http://schemas.openxmlformats.org/drawingml/2006/main">
            <a:off x="9696450" y="4457700"/>
            <a:ext cx="1447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952"/>
          </a:bodyPr>
          <a:lstStyle xmlns:a="http://schemas.openxmlformats.org/drawingml/2006/main"/>
          <a:p xmlns:a="http://schemas.openxmlformats.org/drawingml/2006/main">
            <a:pPr>
              <a:defRPr sz="1575" b="1">
                <a:solidFill>
                  <a:srgbClr val="42C7B9"/>
                </a:solidFill>
                <a:latin typeface="Helvetica Neue"/>
                <a:ea typeface="Helvetica Neue"/>
                <a:cs typeface="Helvetica Neue"/>
              </a:defRPr>
            </a:pPr>
            <a:r>
              <a:rPr sz="1575" b="1">
                <a:solidFill>
                  <a:srgbClr val="42C7B9"/>
                </a:solidFill>
                <a:latin typeface="Helvetica Neue"/>
                <a:ea typeface="Helvetica Neue"/>
                <a:cs typeface="Helvetica Neue"/>
              </a:rPr>
              <a:t>13 mockups</a:t>
            </a:r>
          </a:p>
        </p:txBody>
      </p:sp>
    </p:spTree>
    <p:extLst>
      <p:ext uri="{BB962C8B-B14F-4D97-AF65-F5344CB8AC3E}">
        <p14:creationId xmlns:p14="http://schemas.microsoft.com/office/powerpoint/2010/main" val="208884597"/>
      </p:ext>
    </p:extLst>
  </p:cSld>
</p:sld>
</file>

<file path=ppt/slides/slide4.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4A48342F-9BAA-4097-A35D-D376B5377B00}"/>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42C7B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6CFB1C5-7965-4495-BDA4-9E974BD6718A}"/>
              </a:ext>
            </a:extLst>
          </p:cNvPr>
          <p:cNvSpPr>
            <a:spLocks xmlns:a="http://schemas.openxmlformats.org/drawingml/2006/main" noGrp="1"/>
          </p:cNvSpPr>
          <p:nvPr/>
        </p:nvSpPr>
        <p:spPr>
          <a:xfrm xmlns:a="http://schemas.openxmlformats.org/drawingml/2006/main">
            <a:off x="685800" y="37147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spc="1">
                <a:solidFill>
                  <a:srgbClr val="8FA8FF"/>
                </a:solidFill>
                <a:latin typeface="Helvetica Neue"/>
                <a:ea typeface="Helvetica Neue"/>
                <a:cs typeface="Helvetica Neue"/>
              </a:defRPr>
            </a:pPr>
            <a:r>
              <a:rPr sz="900" b="1" spc="1">
                <a:solidFill>
                  <a:srgbClr val="8FA8FF"/>
                </a:solidFill>
                <a:latin typeface="Helvetica Neue"/>
                <a:ea typeface="Helvetica Neue"/>
                <a:cs typeface="Helvetica Neue"/>
              </a:rPr>
              <a:t>DISEÑO TÉCNICO</a:t>
            </a:r>
          </a:p>
        </p:txBody>
      </p:sp>
      <p:sp>
        <p:nvSpPr>
          <p:cNvPr id="3" name="">
            <a:extLst xmlns:a="http://schemas.openxmlformats.org/drawingml/2006/main">
              <a:ext uri="{FF2B5EF4-FFF2-40B4-BE49-F238E27FC236}">
                <a16:creationId xmlns:a16="http://schemas.microsoft.com/office/drawing/2014/main" id="{EB8DC955-F8FF-4FD5-80FE-91ED71A5C86B}"/>
              </a:ext>
            </a:extLst>
          </p:cNvPr>
          <p:cNvSpPr>
            <a:spLocks xmlns:a="http://schemas.openxmlformats.org/drawingml/2006/main" noGrp="1"/>
          </p:cNvSpPr>
          <p:nvPr/>
        </p:nvSpPr>
        <p:spPr>
          <a:xfrm xmlns:a="http://schemas.openxmlformats.org/drawingml/2006/main">
            <a:off x="9906000" y="371475"/>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r">
              <a:defRPr sz="900" b="1">
                <a:solidFill>
                  <a:srgbClr val="AEB8C4"/>
                </a:solidFill>
                <a:latin typeface="Helvetica Neue"/>
                <a:ea typeface="Helvetica Neue"/>
                <a:cs typeface="Helvetica Neue"/>
              </a:defRPr>
            </a:pPr>
            <a:r>
              <a:rPr sz="900" b="1">
                <a:solidFill>
                  <a:srgbClr val="AEB8C4"/>
                </a:solidFill>
                <a:latin typeface="Helvetica Neue"/>
                <a:ea typeface="Helvetica Neue"/>
                <a:cs typeface="Helvetica Neue"/>
              </a:rPr>
              <a:t>Emerson</a:t>
            </a:r>
          </a:p>
        </p:txBody>
      </p:sp>
      <p:sp>
        <p:nvSpPr>
          <p:cNvPr id="4" name="">
            <a:extLst xmlns:a="http://schemas.openxmlformats.org/drawingml/2006/main">
              <a:ext uri="{FF2B5EF4-FFF2-40B4-BE49-F238E27FC236}">
                <a16:creationId xmlns:a16="http://schemas.microsoft.com/office/drawing/2014/main" id="{BE2F0647-D49F-4200-BB43-7457672562BF}"/>
              </a:ext>
            </a:extLst>
          </p:cNvPr>
          <p:cNvSpPr>
            <a:spLocks xmlns:a="http://schemas.openxmlformats.org/drawingml/2006/main" noGrp="1"/>
          </p:cNvSpPr>
          <p:nvPr/>
        </p:nvSpPr>
        <p:spPr>
          <a:xfrm xmlns:a="http://schemas.openxmlformats.org/drawingml/2006/main">
            <a:off x="10906125" y="643890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lgn="r">
              <a:defRPr sz="825" b="1">
                <a:solidFill>
                  <a:srgbClr val="AEB8C4"/>
                </a:solidFill>
                <a:latin typeface="Helvetica Neue"/>
                <a:ea typeface="Helvetica Neue"/>
                <a:cs typeface="Helvetica Neue"/>
              </a:defRPr>
            </a:pPr>
            <a:r>
              <a:rPr sz="825" b="1">
                <a:solidFill>
                  <a:srgbClr val="AEB8C4"/>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1509DE68-6D14-4003-BC80-EA65ED282D89}"/>
              </a:ext>
            </a:extLst>
          </p:cNvPr>
          <p:cNvSpPr>
            <a:spLocks xmlns:a="http://schemas.openxmlformats.org/drawingml/2006/main" noGrp="1"/>
          </p:cNvSpPr>
          <p:nvPr/>
        </p:nvSpPr>
        <p:spPr>
          <a:xfrm xmlns:a="http://schemas.openxmlformats.org/drawingml/2006/main">
            <a:off x="685800" y="914400"/>
            <a:ext cx="5905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72"/>
          </a:bodyPr>
          <a:lstStyle xmlns:a="http://schemas.openxmlformats.org/drawingml/2006/main"/>
          <a:p xmlns:a="http://schemas.openxmlformats.org/drawingml/2006/main">
            <a:pPr>
              <a:defRPr sz="2925" b="1">
                <a:solidFill>
                  <a:srgbClr val="F4F7FA"/>
                </a:solidFill>
                <a:latin typeface="Helvetica Neue"/>
                <a:ea typeface="Helvetica Neue"/>
                <a:cs typeface="Helvetica Neue"/>
              </a:defRPr>
            </a:pPr>
            <a:r>
              <a:rPr sz="2925" b="1">
                <a:solidFill>
                  <a:srgbClr val="F4F7FA"/>
                </a:solidFill>
                <a:latin typeface="Helvetica Neue"/>
                <a:ea typeface="Helvetica Neue"/>
                <a:cs typeface="Helvetica Neue"/>
              </a:rPr>
              <a:t>Arquitectura propuesta</a:t>
            </a:r>
          </a:p>
        </p:txBody>
      </p:sp>
      <p:sp>
        <p:nvSpPr>
          <p:cNvPr id="6" name="">
            <a:extLst xmlns:a="http://schemas.openxmlformats.org/drawingml/2006/main">
              <a:ext uri="{FF2B5EF4-FFF2-40B4-BE49-F238E27FC236}">
                <a16:creationId xmlns:a16="http://schemas.microsoft.com/office/drawing/2014/main" id="{ED75DE6C-CF49-464D-8F26-AB26C10A09A3}"/>
              </a:ext>
            </a:extLst>
          </p:cNvPr>
          <p:cNvSpPr>
            <a:spLocks xmlns:a="http://schemas.openxmlformats.org/drawingml/2006/main" noGrp="1"/>
          </p:cNvSpPr>
          <p:nvPr/>
        </p:nvSpPr>
        <p:spPr>
          <a:xfrm xmlns:a="http://schemas.openxmlformats.org/drawingml/2006/main">
            <a:off x="685800" y="1619250"/>
            <a:ext cx="695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a:solidFill>
                  <a:srgbClr val="AEB8C4"/>
                </a:solidFill>
                <a:latin typeface="Helvetica Neue"/>
                <a:ea typeface="Helvetica Neue"/>
                <a:cs typeface="Helvetica Neue"/>
              </a:defRPr>
            </a:pPr>
            <a:r>
              <a:rPr sz="1650">
                <a:solidFill>
                  <a:srgbClr val="AEB8C4"/>
                </a:solidFill>
                <a:latin typeface="Helvetica Neue"/>
                <a:ea typeface="Helvetica Neue"/>
                <a:cs typeface="Helvetica Neue"/>
              </a:rPr>
              <a:t>Un monolito modular para separar interfaz, lógica de negocio y datos.</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9260f885af724dc1"/>
          <a:stretch xmlns:a="http://schemas.openxmlformats.org/drawingml/2006/main"/>
        </p:blipFill>
        <p:spPr>
          <a:xfrm xmlns:a="http://schemas.openxmlformats.org/drawingml/2006/main">
            <a:off x="1924050" y="2571750"/>
            <a:ext cx="1066800" cy="1066800"/>
          </a:xfrm>
          <a:prstGeom xmlns:a="http://schemas.openxmlformats.org/drawingml/2006/main" prst="roundRect">
            <a:avLst>
              <a:gd name="adj" fmla="val 7143"/>
            </a:avLst>
          </a:prstGeom>
        </p:spPr>
      </p:pic>
      <p:sp>
        <p:nvSpPr>
          <p:cNvPr id="8" name="">
            <a:extLst xmlns:a="http://schemas.openxmlformats.org/drawingml/2006/main">
              <a:ext uri="{FF2B5EF4-FFF2-40B4-BE49-F238E27FC236}">
                <a16:creationId xmlns:a16="http://schemas.microsoft.com/office/drawing/2014/main" id="{7873EEF5-551E-4380-83CF-BB211AE78FB9}"/>
              </a:ext>
            </a:extLst>
          </p:cNvPr>
          <p:cNvSpPr>
            <a:spLocks xmlns:a="http://schemas.openxmlformats.org/drawingml/2006/main" noGrp="1"/>
          </p:cNvSpPr>
          <p:nvPr/>
        </p:nvSpPr>
        <p:spPr>
          <a:xfrm xmlns:a="http://schemas.openxmlformats.org/drawingml/2006/main">
            <a:off x="1238250" y="3943350"/>
            <a:ext cx="2438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ctr">
              <a:defRPr sz="1425" b="1">
                <a:solidFill>
                  <a:srgbClr val="8FA8FF"/>
                </a:solidFill>
                <a:latin typeface="Helvetica Neue"/>
                <a:ea typeface="Helvetica Neue"/>
                <a:cs typeface="Helvetica Neue"/>
              </a:defRPr>
            </a:pPr>
            <a:r>
              <a:rPr sz="1425" b="1">
                <a:solidFill>
                  <a:srgbClr val="8FA8FF"/>
                </a:solidFill>
                <a:latin typeface="Helvetica Neue"/>
                <a:ea typeface="Helvetica Neue"/>
                <a:cs typeface="Helvetica Neue"/>
              </a:rPr>
              <a:t>ANGULAR</a:t>
            </a:r>
          </a:p>
        </p:txBody>
      </p:sp>
      <p:sp>
        <p:nvSpPr>
          <p:cNvPr id="9" name="">
            <a:extLst xmlns:a="http://schemas.openxmlformats.org/drawingml/2006/main">
              <a:ext uri="{FF2B5EF4-FFF2-40B4-BE49-F238E27FC236}">
                <a16:creationId xmlns:a16="http://schemas.microsoft.com/office/drawing/2014/main" id="{644CAD6E-29F0-474E-ACA4-A6CD0707C67B}"/>
              </a:ext>
            </a:extLst>
          </p:cNvPr>
          <p:cNvSpPr>
            <a:spLocks xmlns:a="http://schemas.openxmlformats.org/drawingml/2006/main" noGrp="1"/>
          </p:cNvSpPr>
          <p:nvPr/>
        </p:nvSpPr>
        <p:spPr>
          <a:xfrm xmlns:a="http://schemas.openxmlformats.org/drawingml/2006/main">
            <a:off x="1238250" y="4400550"/>
            <a:ext cx="243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lgn="ctr">
              <a:defRPr sz="1725" b="1">
                <a:solidFill>
                  <a:srgbClr val="F4F7FA"/>
                </a:solidFill>
                <a:latin typeface="Helvetica Neue"/>
                <a:ea typeface="Helvetica Neue"/>
                <a:cs typeface="Helvetica Neue"/>
              </a:defRPr>
            </a:pPr>
            <a:r>
              <a:rPr sz="1725" b="1">
                <a:solidFill>
                  <a:srgbClr val="F4F7FA"/>
                </a:solidFill>
                <a:latin typeface="Helvetica Neue"/>
                <a:ea typeface="Helvetica Neue"/>
                <a:cs typeface="Helvetica Neue"/>
              </a:rPr>
              <a:t>Interfaz</a:t>
            </a:r>
          </a:p>
        </p:txBody>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2bc63100dab44df1"/>
          <a:stretch xmlns:a="http://schemas.openxmlformats.org/drawingml/2006/main"/>
        </p:blipFill>
        <p:spPr>
          <a:xfrm xmlns:a="http://schemas.openxmlformats.org/drawingml/2006/main">
            <a:off x="5638800" y="2571750"/>
            <a:ext cx="1066800" cy="1066800"/>
          </a:xfrm>
          <a:prstGeom xmlns:a="http://schemas.openxmlformats.org/drawingml/2006/main" prst="roundRect">
            <a:avLst>
              <a:gd name="adj" fmla="val 7143"/>
            </a:avLst>
          </a:prstGeom>
        </p:spPr>
      </p:pic>
      <p:sp>
        <p:nvSpPr>
          <p:cNvPr id="11" name="">
            <a:extLst xmlns:a="http://schemas.openxmlformats.org/drawingml/2006/main">
              <a:ext uri="{FF2B5EF4-FFF2-40B4-BE49-F238E27FC236}">
                <a16:creationId xmlns:a16="http://schemas.microsoft.com/office/drawing/2014/main" id="{D3710310-0D66-4756-AB1B-AB9960D2644A}"/>
              </a:ext>
            </a:extLst>
          </p:cNvPr>
          <p:cNvSpPr>
            <a:spLocks xmlns:a="http://schemas.openxmlformats.org/drawingml/2006/main" noGrp="1"/>
          </p:cNvSpPr>
          <p:nvPr/>
        </p:nvSpPr>
        <p:spPr>
          <a:xfrm xmlns:a="http://schemas.openxmlformats.org/drawingml/2006/main">
            <a:off x="4953000" y="3943350"/>
            <a:ext cx="2438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ctr">
              <a:defRPr sz="1425" b="1">
                <a:solidFill>
                  <a:srgbClr val="8FA8FF"/>
                </a:solidFill>
                <a:latin typeface="Helvetica Neue"/>
                <a:ea typeface="Helvetica Neue"/>
                <a:cs typeface="Helvetica Neue"/>
              </a:defRPr>
            </a:pPr>
            <a:r>
              <a:rPr sz="1425" b="1">
                <a:solidFill>
                  <a:srgbClr val="8FA8FF"/>
                </a:solidFill>
                <a:latin typeface="Helvetica Neue"/>
                <a:ea typeface="Helvetica Neue"/>
                <a:cs typeface="Helvetica Neue"/>
              </a:rPr>
              <a:t>NESTJS</a:t>
            </a:r>
          </a:p>
        </p:txBody>
      </p:sp>
      <p:sp>
        <p:nvSpPr>
          <p:cNvPr id="12" name="">
            <a:extLst xmlns:a="http://schemas.openxmlformats.org/drawingml/2006/main">
              <a:ext uri="{FF2B5EF4-FFF2-40B4-BE49-F238E27FC236}">
                <a16:creationId xmlns:a16="http://schemas.microsoft.com/office/drawing/2014/main" id="{DF206EA0-F22F-4719-9B0A-1E2555FFFCE7}"/>
              </a:ext>
            </a:extLst>
          </p:cNvPr>
          <p:cNvSpPr>
            <a:spLocks xmlns:a="http://schemas.openxmlformats.org/drawingml/2006/main" noGrp="1"/>
          </p:cNvSpPr>
          <p:nvPr/>
        </p:nvSpPr>
        <p:spPr>
          <a:xfrm xmlns:a="http://schemas.openxmlformats.org/drawingml/2006/main">
            <a:off x="4953000" y="4400550"/>
            <a:ext cx="243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lgn="ctr">
              <a:defRPr sz="1725" b="1">
                <a:solidFill>
                  <a:srgbClr val="F4F7FA"/>
                </a:solidFill>
                <a:latin typeface="Helvetica Neue"/>
                <a:ea typeface="Helvetica Neue"/>
                <a:cs typeface="Helvetica Neue"/>
              </a:defRPr>
            </a:pPr>
            <a:r>
              <a:rPr sz="1725" b="1">
                <a:solidFill>
                  <a:srgbClr val="F4F7FA"/>
                </a:solidFill>
                <a:latin typeface="Helvetica Neue"/>
                <a:ea typeface="Helvetica Neue"/>
                <a:cs typeface="Helvetica Neue"/>
              </a:rPr>
              <a:t>Reglas y API</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e064833afe3140ce"/>
          <a:stretch xmlns:a="http://schemas.openxmlformats.org/drawingml/2006/main"/>
        </p:blipFill>
        <p:spPr>
          <a:xfrm xmlns:a="http://schemas.openxmlformats.org/drawingml/2006/main">
            <a:off x="9353550" y="2571750"/>
            <a:ext cx="1066800" cy="1066800"/>
          </a:xfrm>
          <a:prstGeom xmlns:a="http://schemas.openxmlformats.org/drawingml/2006/main" prst="roundRect">
            <a:avLst>
              <a:gd name="adj" fmla="val 7143"/>
            </a:avLst>
          </a:prstGeom>
        </p:spPr>
      </p:pic>
      <p:sp>
        <p:nvSpPr>
          <p:cNvPr id="14" name="">
            <a:extLst xmlns:a="http://schemas.openxmlformats.org/drawingml/2006/main">
              <a:ext uri="{FF2B5EF4-FFF2-40B4-BE49-F238E27FC236}">
                <a16:creationId xmlns:a16="http://schemas.microsoft.com/office/drawing/2014/main" id="{7BFB70E3-66C2-43A2-AE07-D13ED9F2F8CE}"/>
              </a:ext>
            </a:extLst>
          </p:cNvPr>
          <p:cNvSpPr>
            <a:spLocks xmlns:a="http://schemas.openxmlformats.org/drawingml/2006/main" noGrp="1"/>
          </p:cNvSpPr>
          <p:nvPr/>
        </p:nvSpPr>
        <p:spPr>
          <a:xfrm xmlns:a="http://schemas.openxmlformats.org/drawingml/2006/main">
            <a:off x="8667750" y="3943350"/>
            <a:ext cx="24384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ctr">
              <a:defRPr sz="1425" b="1">
                <a:solidFill>
                  <a:srgbClr val="8FA8FF"/>
                </a:solidFill>
                <a:latin typeface="Helvetica Neue"/>
                <a:ea typeface="Helvetica Neue"/>
                <a:cs typeface="Helvetica Neue"/>
              </a:defRPr>
            </a:pPr>
            <a:r>
              <a:rPr sz="1425" b="1">
                <a:solidFill>
                  <a:srgbClr val="8FA8FF"/>
                </a:solidFill>
                <a:latin typeface="Helvetica Neue"/>
                <a:ea typeface="Helvetica Neue"/>
                <a:cs typeface="Helvetica Neue"/>
              </a:rPr>
              <a:t>POSTGRESQL</a:t>
            </a:r>
          </a:p>
        </p:txBody>
      </p:sp>
      <p:sp>
        <p:nvSpPr>
          <p:cNvPr id="15" name="">
            <a:extLst xmlns:a="http://schemas.openxmlformats.org/drawingml/2006/main">
              <a:ext uri="{FF2B5EF4-FFF2-40B4-BE49-F238E27FC236}">
                <a16:creationId xmlns:a16="http://schemas.microsoft.com/office/drawing/2014/main" id="{3D07739A-C279-49E3-88A8-00BAABCCDE2F}"/>
              </a:ext>
            </a:extLst>
          </p:cNvPr>
          <p:cNvSpPr>
            <a:spLocks xmlns:a="http://schemas.openxmlformats.org/drawingml/2006/main" noGrp="1"/>
          </p:cNvSpPr>
          <p:nvPr/>
        </p:nvSpPr>
        <p:spPr>
          <a:xfrm xmlns:a="http://schemas.openxmlformats.org/drawingml/2006/main">
            <a:off x="8667750" y="4400550"/>
            <a:ext cx="2438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159"/>
          </a:bodyPr>
          <a:lstStyle xmlns:a="http://schemas.openxmlformats.org/drawingml/2006/main"/>
          <a:p xmlns:a="http://schemas.openxmlformats.org/drawingml/2006/main">
            <a:pPr algn="ctr">
              <a:defRPr sz="1725" b="1">
                <a:solidFill>
                  <a:srgbClr val="F4F7FA"/>
                </a:solidFill>
                <a:latin typeface="Helvetica Neue"/>
                <a:ea typeface="Helvetica Neue"/>
                <a:cs typeface="Helvetica Neue"/>
              </a:defRPr>
            </a:pPr>
            <a:r>
              <a:rPr sz="1725" b="1">
                <a:solidFill>
                  <a:srgbClr val="F4F7FA"/>
                </a:solidFill>
                <a:latin typeface="Helvetica Neue"/>
                <a:ea typeface="Helvetica Neue"/>
                <a:cs typeface="Helvetica Neue"/>
              </a:rPr>
              <a:t>Persistencia</a:t>
            </a:r>
          </a:p>
        </p:txBody>
      </p:sp>
      <p:sp>
        <p:nvSpPr>
          <p:cNvPr id="16" name="">
            <a:extLst xmlns:a="http://schemas.openxmlformats.org/drawingml/2006/main">
              <a:ext uri="{FF2B5EF4-FFF2-40B4-BE49-F238E27FC236}">
                <a16:creationId xmlns:a16="http://schemas.microsoft.com/office/drawing/2014/main" id="{15E3E210-4C2A-4323-B6BD-D0FA97E9DC60}"/>
              </a:ext>
            </a:extLst>
          </p:cNvPr>
          <p:cNvSpPr>
            <a:spLocks xmlns:a="http://schemas.openxmlformats.org/drawingml/2006/main" noGrp="1"/>
          </p:cNvSpPr>
          <p:nvPr/>
        </p:nvSpPr>
        <p:spPr>
          <a:xfrm xmlns:a="http://schemas.openxmlformats.org/drawingml/2006/main">
            <a:off x="4248150" y="2667000"/>
            <a:ext cx="19050" cy="2228850"/>
          </a:xfrm>
          <a:prstGeom xmlns:a="http://schemas.openxmlformats.org/drawingml/2006/main" prst="rect">
            <a:avLst/>
          </a:prstGeom>
          <a:solidFill xmlns:a="http://schemas.openxmlformats.org/drawingml/2006/main">
            <a:srgbClr val="2A3440"/>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F487EEB2-7922-4C5A-83FB-184B8E15E1DB}"/>
              </a:ext>
            </a:extLst>
          </p:cNvPr>
          <p:cNvSpPr>
            <a:spLocks xmlns:a="http://schemas.openxmlformats.org/drawingml/2006/main" noGrp="1"/>
          </p:cNvSpPr>
          <p:nvPr/>
        </p:nvSpPr>
        <p:spPr>
          <a:xfrm xmlns:a="http://schemas.openxmlformats.org/drawingml/2006/main">
            <a:off x="7962900" y="2667000"/>
            <a:ext cx="19050" cy="2228850"/>
          </a:xfrm>
          <a:prstGeom xmlns:a="http://schemas.openxmlformats.org/drawingml/2006/main" prst="rect">
            <a:avLst/>
          </a:prstGeom>
          <a:solidFill xmlns:a="http://schemas.openxmlformats.org/drawingml/2006/main">
            <a:srgbClr val="2A3440"/>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520361B-9CAF-43A9-815A-28C0CE6C14A2}"/>
              </a:ext>
            </a:extLst>
          </p:cNvPr>
          <p:cNvSpPr>
            <a:spLocks xmlns:a="http://schemas.openxmlformats.org/drawingml/2006/main" noGrp="1"/>
          </p:cNvSpPr>
          <p:nvPr/>
        </p:nvSpPr>
        <p:spPr>
          <a:xfrm xmlns:a="http://schemas.openxmlformats.org/drawingml/2006/main">
            <a:off x="685800" y="5572125"/>
            <a:ext cx="10191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lgn="ctr">
              <a:defRPr sz="1500" b="1">
                <a:solidFill>
                  <a:srgbClr val="7DD3A7"/>
                </a:solidFill>
                <a:latin typeface="Helvetica Neue"/>
                <a:ea typeface="Helvetica Neue"/>
                <a:cs typeface="Helvetica Neue"/>
              </a:defRPr>
            </a:pPr>
            <a:r>
              <a:rPr sz="1500" b="1">
                <a:solidFill>
                  <a:srgbClr val="7DD3A7"/>
                </a:solidFill>
                <a:latin typeface="Helvetica Neue"/>
                <a:ea typeface="Helvetica Neue"/>
                <a:cs typeface="Helvetica Neue"/>
              </a:rPr>
              <a:t>Cada capa tiene una responsabilidad y puede evolucionar sin afectar las demás.</a:t>
            </a:r>
          </a:p>
        </p:txBody>
      </p:sp>
    </p:spTree>
    <p:extLst>
      <p:ext uri="{BB962C8B-B14F-4D97-AF65-F5344CB8AC3E}">
        <p14:creationId xmlns:p14="http://schemas.microsoft.com/office/powerpoint/2010/main" val="1319963468"/>
      </p:ext>
    </p:extLst>
  </p:cSld>
</p:sld>
</file>

<file path=ppt/slides/slide5.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8D2E3886-A49A-46F0-AD9C-D931283A6B63}"/>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42C7B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12639A0E-B67C-4BEC-A39C-D7FDD88FE6B5}"/>
              </a:ext>
            </a:extLst>
          </p:cNvPr>
          <p:cNvSpPr>
            <a:spLocks xmlns:a="http://schemas.openxmlformats.org/drawingml/2006/main" noGrp="1"/>
          </p:cNvSpPr>
          <p:nvPr/>
        </p:nvSpPr>
        <p:spPr>
          <a:xfrm xmlns:a="http://schemas.openxmlformats.org/drawingml/2006/main">
            <a:off x="685800" y="37147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spc="1">
                <a:solidFill>
                  <a:srgbClr val="8FA8FF"/>
                </a:solidFill>
                <a:latin typeface="Helvetica Neue"/>
                <a:ea typeface="Helvetica Neue"/>
                <a:cs typeface="Helvetica Neue"/>
              </a:defRPr>
            </a:pPr>
            <a:r>
              <a:rPr sz="900" b="1" spc="1">
                <a:solidFill>
                  <a:srgbClr val="8FA8FF"/>
                </a:solidFill>
                <a:latin typeface="Helvetica Neue"/>
                <a:ea typeface="Helvetica Neue"/>
                <a:cs typeface="Helvetica Neue"/>
              </a:rPr>
              <a:t>DISEÑO TÉCNICO</a:t>
            </a:r>
          </a:p>
        </p:txBody>
      </p:sp>
      <p:sp>
        <p:nvSpPr>
          <p:cNvPr id="3" name="">
            <a:extLst xmlns:a="http://schemas.openxmlformats.org/drawingml/2006/main">
              <a:ext uri="{FF2B5EF4-FFF2-40B4-BE49-F238E27FC236}">
                <a16:creationId xmlns:a16="http://schemas.microsoft.com/office/drawing/2014/main" id="{E8B487FE-D9C3-4B40-BA90-346150C14243}"/>
              </a:ext>
            </a:extLst>
          </p:cNvPr>
          <p:cNvSpPr>
            <a:spLocks xmlns:a="http://schemas.openxmlformats.org/drawingml/2006/main" noGrp="1"/>
          </p:cNvSpPr>
          <p:nvPr/>
        </p:nvSpPr>
        <p:spPr>
          <a:xfrm xmlns:a="http://schemas.openxmlformats.org/drawingml/2006/main">
            <a:off x="9906000" y="371475"/>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r">
              <a:defRPr sz="900" b="1">
                <a:solidFill>
                  <a:srgbClr val="AEB8C4"/>
                </a:solidFill>
                <a:latin typeface="Helvetica Neue"/>
                <a:ea typeface="Helvetica Neue"/>
                <a:cs typeface="Helvetica Neue"/>
              </a:defRPr>
            </a:pPr>
            <a:r>
              <a:rPr sz="900" b="1">
                <a:solidFill>
                  <a:srgbClr val="AEB8C4"/>
                </a:solidFill>
                <a:latin typeface="Helvetica Neue"/>
                <a:ea typeface="Helvetica Neue"/>
                <a:cs typeface="Helvetica Neue"/>
              </a:rPr>
              <a:t>Emerson</a:t>
            </a:r>
          </a:p>
        </p:txBody>
      </p:sp>
      <p:sp>
        <p:nvSpPr>
          <p:cNvPr id="4" name="">
            <a:extLst xmlns:a="http://schemas.openxmlformats.org/drawingml/2006/main">
              <a:ext uri="{FF2B5EF4-FFF2-40B4-BE49-F238E27FC236}">
                <a16:creationId xmlns:a16="http://schemas.microsoft.com/office/drawing/2014/main" id="{06094333-3239-40E6-B5B3-1CA22361DC95}"/>
              </a:ext>
            </a:extLst>
          </p:cNvPr>
          <p:cNvSpPr>
            <a:spLocks xmlns:a="http://schemas.openxmlformats.org/drawingml/2006/main" noGrp="1"/>
          </p:cNvSpPr>
          <p:nvPr/>
        </p:nvSpPr>
        <p:spPr>
          <a:xfrm xmlns:a="http://schemas.openxmlformats.org/drawingml/2006/main">
            <a:off x="10906125" y="643890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lgn="r">
              <a:defRPr sz="825" b="1">
                <a:solidFill>
                  <a:srgbClr val="AEB8C4"/>
                </a:solidFill>
                <a:latin typeface="Helvetica Neue"/>
                <a:ea typeface="Helvetica Neue"/>
                <a:cs typeface="Helvetica Neue"/>
              </a:defRPr>
            </a:pPr>
            <a:r>
              <a:rPr sz="825" b="1">
                <a:solidFill>
                  <a:srgbClr val="AEB8C4"/>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6C21514A-5154-4FB5-99CE-C0F5D7D88871}"/>
              </a:ext>
            </a:extLst>
          </p:cNvPr>
          <p:cNvSpPr>
            <a:spLocks xmlns:a="http://schemas.openxmlformats.org/drawingml/2006/main" noGrp="1"/>
          </p:cNvSpPr>
          <p:nvPr/>
        </p:nvSpPr>
        <p:spPr>
          <a:xfrm xmlns:a="http://schemas.openxmlformats.org/drawingml/2006/main">
            <a:off x="685800" y="914400"/>
            <a:ext cx="7905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72"/>
          </a:bodyPr>
          <a:lstStyle xmlns:a="http://schemas.openxmlformats.org/drawingml/2006/main"/>
          <a:p xmlns:a="http://schemas.openxmlformats.org/drawingml/2006/main">
            <a:pPr>
              <a:defRPr sz="2925" b="1">
                <a:solidFill>
                  <a:srgbClr val="F4F7FA"/>
                </a:solidFill>
                <a:latin typeface="Helvetica Neue"/>
                <a:ea typeface="Helvetica Neue"/>
                <a:cs typeface="Helvetica Neue"/>
              </a:defRPr>
            </a:pPr>
            <a:r>
              <a:rPr sz="2925" b="1">
                <a:solidFill>
                  <a:srgbClr val="F4F7FA"/>
                </a:solidFill>
                <a:latin typeface="Helvetica Neue"/>
                <a:ea typeface="Helvetica Neue"/>
                <a:cs typeface="Helvetica Neue"/>
              </a:rPr>
              <a:t>La causa como núcleo de la información</a:t>
            </a:r>
          </a:p>
        </p:txBody>
      </p:sp>
      <p:sp>
        <p:nvSpPr>
          <p:cNvPr id="6" name="">
            <a:extLst xmlns:a="http://schemas.openxmlformats.org/drawingml/2006/main">
              <a:ext uri="{FF2B5EF4-FFF2-40B4-BE49-F238E27FC236}">
                <a16:creationId xmlns:a16="http://schemas.microsoft.com/office/drawing/2014/main" id="{2EECC62F-0F56-4D87-9CA2-7849C1F464A7}"/>
              </a:ext>
            </a:extLst>
          </p:cNvPr>
          <p:cNvSpPr>
            <a:spLocks xmlns:a="http://schemas.openxmlformats.org/drawingml/2006/main" noGrp="1"/>
          </p:cNvSpPr>
          <p:nvPr/>
        </p:nvSpPr>
        <p:spPr>
          <a:xfrm xmlns:a="http://schemas.openxmlformats.org/drawingml/2006/main">
            <a:off x="685800" y="1619250"/>
            <a:ext cx="8191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a:solidFill>
                  <a:srgbClr val="AEB8C4"/>
                </a:solidFill>
                <a:latin typeface="Helvetica Neue"/>
                <a:ea typeface="Helvetica Neue"/>
                <a:cs typeface="Helvetica Neue"/>
              </a:defRPr>
            </a:pPr>
            <a:r>
              <a:rPr sz="1650">
                <a:solidFill>
                  <a:srgbClr val="AEB8C4"/>
                </a:solidFill>
                <a:latin typeface="Helvetica Neue"/>
                <a:ea typeface="Helvetica Neue"/>
                <a:cs typeface="Helvetica Neue"/>
              </a:rPr>
              <a:t>El modelo conecta a las personas con los elementos necesarios para seguir cada caso.</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1b531dec3e74a04"/>
          <a:stretch xmlns:a="http://schemas.openxmlformats.org/drawingml/2006/main"/>
        </p:blipFill>
        <p:spPr>
          <a:xfrm xmlns:a="http://schemas.openxmlformats.org/drawingml/2006/main">
            <a:off x="1637531" y="2266950"/>
            <a:ext cx="4764038" cy="3524250"/>
          </a:xfrm>
          <a:prstGeom xmlns:a="http://schemas.openxmlformats.org/drawingml/2006/main" prst="roundRect">
            <a:avLst>
              <a:gd name="adj" fmla="val 2162"/>
            </a:avLst>
          </a:prstGeom>
        </p:spPr>
      </p:pic>
      <p:sp>
        <p:nvSpPr>
          <p:cNvPr id="8" name="">
            <a:extLst xmlns:a="http://schemas.openxmlformats.org/drawingml/2006/main">
              <a:ext uri="{FF2B5EF4-FFF2-40B4-BE49-F238E27FC236}">
                <a16:creationId xmlns:a16="http://schemas.microsoft.com/office/drawing/2014/main" id="{07C64546-0F33-4BF0-9192-7C757D169517}"/>
              </a:ext>
            </a:extLst>
          </p:cNvPr>
          <p:cNvSpPr>
            <a:spLocks xmlns:a="http://schemas.openxmlformats.org/drawingml/2006/main" noGrp="1"/>
          </p:cNvSpPr>
          <p:nvPr/>
        </p:nvSpPr>
        <p:spPr>
          <a:xfrm xmlns:a="http://schemas.openxmlformats.org/drawingml/2006/main">
            <a:off x="8362950" y="2476500"/>
            <a:ext cx="21907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b="1">
                <a:solidFill>
                  <a:srgbClr val="8FA8FF"/>
                </a:solidFill>
                <a:latin typeface="Helvetica Neue"/>
                <a:ea typeface="Helvetica Neue"/>
                <a:cs typeface="Helvetica Neue"/>
              </a:defRPr>
            </a:pPr>
            <a:r>
              <a:rPr sz="1500" b="1">
                <a:solidFill>
                  <a:srgbClr val="8FA8FF"/>
                </a:solidFill>
                <a:latin typeface="Helvetica Neue"/>
                <a:ea typeface="Helvetica Neue"/>
                <a:cs typeface="Helvetica Neue"/>
              </a:rPr>
              <a:t>CAUSA</a:t>
            </a:r>
          </a:p>
        </p:txBody>
      </p:sp>
      <p:sp>
        <p:nvSpPr>
          <p:cNvPr id="9" name="">
            <a:extLst xmlns:a="http://schemas.openxmlformats.org/drawingml/2006/main">
              <a:ext uri="{FF2B5EF4-FFF2-40B4-BE49-F238E27FC236}">
                <a16:creationId xmlns:a16="http://schemas.microsoft.com/office/drawing/2014/main" id="{6117DFA3-930D-41E4-B1D0-DB74EC70306F}"/>
              </a:ext>
            </a:extLst>
          </p:cNvPr>
          <p:cNvSpPr>
            <a:spLocks xmlns:a="http://schemas.openxmlformats.org/drawingml/2006/main" noGrp="1"/>
          </p:cNvSpPr>
          <p:nvPr/>
        </p:nvSpPr>
        <p:spPr>
          <a:xfrm xmlns:a="http://schemas.openxmlformats.org/drawingml/2006/main">
            <a:off x="8362950" y="2971800"/>
            <a:ext cx="25908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9661"/>
          </a:bodyPr>
          <a:lstStyle xmlns:a="http://schemas.openxmlformats.org/drawingml/2006/main"/>
          <a:p xmlns:a="http://schemas.openxmlformats.org/drawingml/2006/main">
            <a:pPr>
              <a:defRPr sz="1650">
                <a:solidFill>
                  <a:srgbClr val="F4F7FA"/>
                </a:solidFill>
                <a:latin typeface="Helvetica Neue"/>
                <a:ea typeface="Helvetica Neue"/>
                <a:cs typeface="Helvetica Neue"/>
              </a:defRPr>
            </a:pPr>
            <a:r>
              <a:rPr sz="1650">
                <a:solidFill>
                  <a:srgbClr val="F4F7FA"/>
                </a:solidFill>
                <a:latin typeface="Helvetica Neue"/>
                <a:ea typeface="Helvetica Neue"/>
                <a:cs typeface="Helvetica Neue"/>
              </a:rPr>
              <a:t>Abogado y cliente</a:t>
            </a:r>
          </a:p>
          <a:p xmlns:a="http://schemas.openxmlformats.org/drawingml/2006/main">
            <a:pPr>
              <a:defRPr sz="1650">
                <a:solidFill>
                  <a:srgbClr val="F4F7FA"/>
                </a:solidFill>
                <a:latin typeface="Helvetica Neue"/>
                <a:ea typeface="Helvetica Neue"/>
                <a:cs typeface="Helvetica Neue"/>
              </a:defRPr>
            </a:pPr>
            <a:r>
              <a:rPr sz="1650">
                <a:solidFill>
                  <a:srgbClr val="F4F7FA"/>
                </a:solidFill>
                <a:latin typeface="Helvetica Neue"/>
                <a:ea typeface="Helvetica Neue"/>
                <a:cs typeface="Helvetica Neue"/>
              </a:rPr>
              <a:t>Estados y recordatorios</a:t>
            </a:r>
          </a:p>
          <a:p xmlns:a="http://schemas.openxmlformats.org/drawingml/2006/main">
            <a:pPr>
              <a:defRPr sz="1650">
                <a:solidFill>
                  <a:srgbClr val="F4F7FA"/>
                </a:solidFill>
                <a:latin typeface="Helvetica Neue"/>
                <a:ea typeface="Helvetica Neue"/>
                <a:cs typeface="Helvetica Neue"/>
              </a:defRPr>
            </a:pPr>
            <a:r>
              <a:rPr sz="1650">
                <a:solidFill>
                  <a:srgbClr val="F4F7FA"/>
                </a:solidFill>
                <a:latin typeface="Helvetica Neue"/>
                <a:ea typeface="Helvetica Neue"/>
                <a:cs typeface="Helvetica Neue"/>
              </a:rPr>
              <a:t>Documentos</a:t>
            </a:r>
          </a:p>
          <a:p xmlns:a="http://schemas.openxmlformats.org/drawingml/2006/main">
            <a:pPr>
              <a:defRPr sz="1650">
                <a:solidFill>
                  <a:srgbClr val="F4F7FA"/>
                </a:solidFill>
                <a:latin typeface="Helvetica Neue"/>
                <a:ea typeface="Helvetica Neue"/>
                <a:cs typeface="Helvetica Neue"/>
              </a:defRPr>
            </a:pPr>
            <a:r>
              <a:rPr sz="1650">
                <a:solidFill>
                  <a:srgbClr val="F4F7FA"/>
                </a:solidFill>
                <a:latin typeface="Helvetica Neue"/>
                <a:ea typeface="Helvetica Neue"/>
                <a:cs typeface="Helvetica Neue"/>
              </a:rPr>
              <a:t>Solicitudes documentales</a:t>
            </a:r>
          </a:p>
          <a:p xmlns:a="http://schemas.openxmlformats.org/drawingml/2006/main">
            <a:pPr>
              <a:defRPr sz="1650">
                <a:solidFill>
                  <a:srgbClr val="F4F7FA"/>
                </a:solidFill>
                <a:latin typeface="Helvetica Neue"/>
                <a:ea typeface="Helvetica Neue"/>
                <a:cs typeface="Helvetica Neue"/>
              </a:defRPr>
            </a:pPr>
            <a:r>
              <a:rPr sz="1650">
                <a:solidFill>
                  <a:srgbClr val="F4F7FA"/>
                </a:solidFill>
                <a:latin typeface="Helvetica Neue"/>
                <a:ea typeface="Helvetica Neue"/>
                <a:cs typeface="Helvetica Neue"/>
              </a:rPr>
              <a:t>Movimientos por confirmar</a:t>
            </a:r>
          </a:p>
        </p:txBody>
      </p:sp>
    </p:spTree>
    <p:extLst>
      <p:ext uri="{BB962C8B-B14F-4D97-AF65-F5344CB8AC3E}">
        <p14:creationId xmlns:p14="http://schemas.microsoft.com/office/powerpoint/2010/main" val="1025262847"/>
      </p:ext>
    </p:extLst>
  </p:cSld>
</p:sld>
</file>

<file path=ppt/slides/slide6.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B55690B7-4451-41C8-8143-840422CB0EDF}"/>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42C7B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B2FBF3AD-B778-449F-8596-9854FAF05CA4}"/>
              </a:ext>
            </a:extLst>
          </p:cNvPr>
          <p:cNvSpPr>
            <a:spLocks xmlns:a="http://schemas.openxmlformats.org/drawingml/2006/main" noGrp="1"/>
          </p:cNvSpPr>
          <p:nvPr/>
        </p:nvSpPr>
        <p:spPr>
          <a:xfrm xmlns:a="http://schemas.openxmlformats.org/drawingml/2006/main">
            <a:off x="685800" y="37147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spc="1">
                <a:solidFill>
                  <a:srgbClr val="8FA8FF"/>
                </a:solidFill>
                <a:latin typeface="Helvetica Neue"/>
                <a:ea typeface="Helvetica Neue"/>
                <a:cs typeface="Helvetica Neue"/>
              </a:defRPr>
            </a:pPr>
            <a:r>
              <a:rPr sz="900" b="1" spc="1">
                <a:solidFill>
                  <a:srgbClr val="8FA8FF"/>
                </a:solidFill>
                <a:latin typeface="Helvetica Neue"/>
                <a:ea typeface="Helvetica Neue"/>
                <a:cs typeface="Helvetica Neue"/>
              </a:rPr>
              <a:t>DISEÑO TÉCNICO</a:t>
            </a:r>
          </a:p>
        </p:txBody>
      </p:sp>
      <p:sp>
        <p:nvSpPr>
          <p:cNvPr id="3" name="">
            <a:extLst xmlns:a="http://schemas.openxmlformats.org/drawingml/2006/main">
              <a:ext uri="{FF2B5EF4-FFF2-40B4-BE49-F238E27FC236}">
                <a16:creationId xmlns:a16="http://schemas.microsoft.com/office/drawing/2014/main" id="{86866EF6-CFDF-4250-90B5-47C33AFDA4FF}"/>
              </a:ext>
            </a:extLst>
          </p:cNvPr>
          <p:cNvSpPr>
            <a:spLocks xmlns:a="http://schemas.openxmlformats.org/drawingml/2006/main" noGrp="1"/>
          </p:cNvSpPr>
          <p:nvPr/>
        </p:nvSpPr>
        <p:spPr>
          <a:xfrm xmlns:a="http://schemas.openxmlformats.org/drawingml/2006/main">
            <a:off x="9906000" y="371475"/>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r">
              <a:defRPr sz="900" b="1">
                <a:solidFill>
                  <a:srgbClr val="AEB8C4"/>
                </a:solidFill>
                <a:latin typeface="Helvetica Neue"/>
                <a:ea typeface="Helvetica Neue"/>
                <a:cs typeface="Helvetica Neue"/>
              </a:defRPr>
            </a:pPr>
            <a:r>
              <a:rPr sz="900" b="1">
                <a:solidFill>
                  <a:srgbClr val="AEB8C4"/>
                </a:solidFill>
                <a:latin typeface="Helvetica Neue"/>
                <a:ea typeface="Helvetica Neue"/>
                <a:cs typeface="Helvetica Neue"/>
              </a:rPr>
              <a:t>Emerson</a:t>
            </a:r>
          </a:p>
        </p:txBody>
      </p:sp>
      <p:sp>
        <p:nvSpPr>
          <p:cNvPr id="4" name="">
            <a:extLst xmlns:a="http://schemas.openxmlformats.org/drawingml/2006/main">
              <a:ext uri="{FF2B5EF4-FFF2-40B4-BE49-F238E27FC236}">
                <a16:creationId xmlns:a16="http://schemas.microsoft.com/office/drawing/2014/main" id="{6C02FF65-80CA-457D-8251-0C18AF548960}"/>
              </a:ext>
            </a:extLst>
          </p:cNvPr>
          <p:cNvSpPr>
            <a:spLocks xmlns:a="http://schemas.openxmlformats.org/drawingml/2006/main" noGrp="1"/>
          </p:cNvSpPr>
          <p:nvPr/>
        </p:nvSpPr>
        <p:spPr>
          <a:xfrm xmlns:a="http://schemas.openxmlformats.org/drawingml/2006/main">
            <a:off x="10906125" y="643890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lgn="r">
              <a:defRPr sz="825" b="1">
                <a:solidFill>
                  <a:srgbClr val="AEB8C4"/>
                </a:solidFill>
                <a:latin typeface="Helvetica Neue"/>
                <a:ea typeface="Helvetica Neue"/>
                <a:cs typeface="Helvetica Neue"/>
              </a:defRPr>
            </a:pPr>
            <a:r>
              <a:rPr sz="825" b="1">
                <a:solidFill>
                  <a:srgbClr val="AEB8C4"/>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83433C10-6E3A-41FF-AD7A-97C05DF642D6}"/>
              </a:ext>
            </a:extLst>
          </p:cNvPr>
          <p:cNvSpPr>
            <a:spLocks xmlns:a="http://schemas.openxmlformats.org/drawingml/2006/main" noGrp="1"/>
          </p:cNvSpPr>
          <p:nvPr/>
        </p:nvSpPr>
        <p:spPr>
          <a:xfrm xmlns:a="http://schemas.openxmlformats.org/drawingml/2006/main">
            <a:off x="685800" y="914400"/>
            <a:ext cx="72390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72"/>
          </a:bodyPr>
          <a:lstStyle xmlns:a="http://schemas.openxmlformats.org/drawingml/2006/main"/>
          <a:p xmlns:a="http://schemas.openxmlformats.org/drawingml/2006/main">
            <a:pPr>
              <a:defRPr sz="2925" b="1">
                <a:solidFill>
                  <a:srgbClr val="F4F7FA"/>
                </a:solidFill>
                <a:latin typeface="Helvetica Neue"/>
                <a:ea typeface="Helvetica Neue"/>
                <a:cs typeface="Helvetica Neue"/>
              </a:defRPr>
            </a:pPr>
            <a:r>
              <a:rPr sz="2925" b="1">
                <a:solidFill>
                  <a:srgbClr val="F4F7FA"/>
                </a:solidFill>
                <a:latin typeface="Helvetica Neue"/>
                <a:ea typeface="Helvetica Neue"/>
                <a:cs typeface="Helvetica Neue"/>
              </a:rPr>
              <a:t>Flujos que requieren validación</a:t>
            </a:r>
          </a:p>
        </p:txBody>
      </p:sp>
      <p:sp>
        <p:nvSpPr>
          <p:cNvPr id="6" name="">
            <a:extLst xmlns:a="http://schemas.openxmlformats.org/drawingml/2006/main">
              <a:ext uri="{FF2B5EF4-FFF2-40B4-BE49-F238E27FC236}">
                <a16:creationId xmlns:a16="http://schemas.microsoft.com/office/drawing/2014/main" id="{C9B6A8DE-5589-4C89-BBB6-EAF87FD01B5A}"/>
              </a:ext>
            </a:extLst>
          </p:cNvPr>
          <p:cNvSpPr>
            <a:spLocks xmlns:a="http://schemas.openxmlformats.org/drawingml/2006/main" noGrp="1"/>
          </p:cNvSpPr>
          <p:nvPr/>
        </p:nvSpPr>
        <p:spPr>
          <a:xfrm xmlns:a="http://schemas.openxmlformats.org/drawingml/2006/main">
            <a:off x="685800" y="1619250"/>
            <a:ext cx="7810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a:solidFill>
                  <a:srgbClr val="AEB8C4"/>
                </a:solidFill>
                <a:latin typeface="Helvetica Neue"/>
                <a:ea typeface="Helvetica Neue"/>
                <a:cs typeface="Helvetica Neue"/>
              </a:defRPr>
            </a:pPr>
            <a:r>
              <a:rPr sz="1650">
                <a:solidFill>
                  <a:srgbClr val="AEB8C4"/>
                </a:solidFill>
                <a:latin typeface="Helvetica Neue"/>
                <a:ea typeface="Helvetica Neue"/>
                <a:cs typeface="Helvetica Neue"/>
              </a:rPr>
              <a:t>La importación y las sugerencias requieren confirmación humana.</a:t>
            </a:r>
          </a:p>
        </p:txBody>
      </p:sp>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4c404e171b3144eb"/>
          <a:stretch xmlns:a="http://schemas.openxmlformats.org/drawingml/2006/main"/>
        </p:blipFill>
        <p:spPr>
          <a:xfrm xmlns:a="http://schemas.openxmlformats.org/drawingml/2006/main">
            <a:off x="1669841" y="2533650"/>
            <a:ext cx="1803819" cy="3143250"/>
          </a:xfrm>
          <a:prstGeom xmlns:a="http://schemas.openxmlformats.org/drawingml/2006/main" prst="roundRect">
            <a:avLst>
              <a:gd name="adj" fmla="val 2667"/>
            </a:avLst>
          </a:prstGeom>
        </p:spPr>
      </p:pic>
      <p:pic>
        <p:nvPicPr>
          <p:cNvPr id="21" name=""/>
          <p:cNvPicPr>
            <a:picLocks xmlns:a="http://schemas.openxmlformats.org/drawingml/2006/main" noChangeAspect="1"/>
          </p:cNvPicPr>
          <p:nvPr/>
        </p:nvPicPr>
        <p:blipFill>
          <a:blip xmlns:r="http://schemas.openxmlformats.org/officeDocument/2006/relationships" xmlns:a="http://schemas.openxmlformats.org/drawingml/2006/main" r:embed="R37d659f38ac14f9e"/>
          <a:stretch xmlns:a="http://schemas.openxmlformats.org/drawingml/2006/main"/>
        </p:blipFill>
        <p:spPr>
          <a:xfrm xmlns:a="http://schemas.openxmlformats.org/drawingml/2006/main">
            <a:off x="5862312" y="2533650"/>
            <a:ext cx="1229375" cy="3143250"/>
          </a:xfrm>
          <a:prstGeom xmlns:a="http://schemas.openxmlformats.org/drawingml/2006/main" prst="roundRect">
            <a:avLst>
              <a:gd name="adj" fmla="val 2667"/>
            </a:avLst>
          </a:prstGeom>
        </p:spPr>
      </p:pic>
      <p:sp>
        <p:nvSpPr>
          <p:cNvPr id="9" name="">
            <a:extLst xmlns:a="http://schemas.openxmlformats.org/drawingml/2006/main">
              <a:ext uri="{FF2B5EF4-FFF2-40B4-BE49-F238E27FC236}">
                <a16:creationId xmlns:a16="http://schemas.microsoft.com/office/drawing/2014/main" id="{0FD5D141-DF08-4335-AD1D-33F84444FDCC}"/>
              </a:ext>
            </a:extLst>
          </p:cNvPr>
          <p:cNvSpPr>
            <a:spLocks xmlns:a="http://schemas.openxmlformats.org/drawingml/2006/main" noGrp="1"/>
          </p:cNvSpPr>
          <p:nvPr/>
        </p:nvSpPr>
        <p:spPr>
          <a:xfrm xmlns:a="http://schemas.openxmlformats.org/drawingml/2006/main">
            <a:off x="1143000" y="582930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296"/>
          </a:bodyPr>
          <a:lstStyle xmlns:a="http://schemas.openxmlformats.org/drawingml/2006/main"/>
          <a:p xmlns:a="http://schemas.openxmlformats.org/drawingml/2006/main">
            <a:pPr algn="ctr">
              <a:defRPr sz="1350" b="1">
                <a:solidFill>
                  <a:srgbClr val="42C7B9"/>
                </a:solidFill>
                <a:latin typeface="Helvetica Neue"/>
                <a:ea typeface="Helvetica Neue"/>
                <a:cs typeface="Helvetica Neue"/>
              </a:defRPr>
            </a:pPr>
            <a:r>
              <a:rPr sz="1350" b="1">
                <a:solidFill>
                  <a:srgbClr val="42C7B9"/>
                </a:solidFill>
                <a:latin typeface="Helvetica Neue"/>
                <a:ea typeface="Helvetica Neue"/>
                <a:cs typeface="Helvetica Neue"/>
              </a:rPr>
              <a:t>Importar Excel</a:t>
            </a:r>
          </a:p>
        </p:txBody>
      </p:sp>
      <p:sp>
        <p:nvSpPr>
          <p:cNvPr id="10" name="">
            <a:extLst xmlns:a="http://schemas.openxmlformats.org/drawingml/2006/main">
              <a:ext uri="{FF2B5EF4-FFF2-40B4-BE49-F238E27FC236}">
                <a16:creationId xmlns:a16="http://schemas.microsoft.com/office/drawing/2014/main" id="{318F418F-868E-4172-9549-97FCCAD60C98}"/>
              </a:ext>
            </a:extLst>
          </p:cNvPr>
          <p:cNvSpPr>
            <a:spLocks xmlns:a="http://schemas.openxmlformats.org/drawingml/2006/main" noGrp="1"/>
          </p:cNvSpPr>
          <p:nvPr/>
        </p:nvSpPr>
        <p:spPr>
          <a:xfrm xmlns:a="http://schemas.openxmlformats.org/drawingml/2006/main">
            <a:off x="5048250" y="5829300"/>
            <a:ext cx="2857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1296"/>
          </a:bodyPr>
          <a:lstStyle xmlns:a="http://schemas.openxmlformats.org/drawingml/2006/main"/>
          <a:p xmlns:a="http://schemas.openxmlformats.org/drawingml/2006/main">
            <a:pPr algn="ctr">
              <a:defRPr sz="1350" b="1">
                <a:solidFill>
                  <a:srgbClr val="42C7B9"/>
                </a:solidFill>
                <a:latin typeface="Helvetica Neue"/>
                <a:ea typeface="Helvetica Neue"/>
                <a:cs typeface="Helvetica Neue"/>
              </a:defRPr>
            </a:pPr>
            <a:r>
              <a:rPr sz="1350" b="1">
                <a:solidFill>
                  <a:srgbClr val="42C7B9"/>
                </a:solidFill>
                <a:latin typeface="Helvetica Neue"/>
                <a:ea typeface="Helvetica Neue"/>
                <a:cs typeface="Helvetica Neue"/>
              </a:rPr>
              <a:t>Revisar sugerencias</a:t>
            </a:r>
          </a:p>
        </p:txBody>
      </p:sp>
      <p:pic>
        <p:nvPicPr>
          <p:cNvPr id="24" name=""/>
          <p:cNvPicPr>
            <a:picLocks xmlns:a="http://schemas.openxmlformats.org/drawingml/2006/main" noChangeAspect="1"/>
          </p:cNvPicPr>
          <p:nvPr/>
        </p:nvPicPr>
        <p:blipFill>
          <a:blip xmlns:r="http://schemas.openxmlformats.org/officeDocument/2006/relationships" xmlns:a="http://schemas.openxmlformats.org/drawingml/2006/main" r:embed="Rcfe903134b734af0"/>
          <a:stretch xmlns:a="http://schemas.openxmlformats.org/drawingml/2006/main"/>
        </p:blipFill>
        <p:spPr>
          <a:xfrm xmlns:a="http://schemas.openxmlformats.org/drawingml/2006/main">
            <a:off x="9439275" y="2667000"/>
            <a:ext cx="914400" cy="914400"/>
          </a:xfrm>
          <a:prstGeom xmlns:a="http://schemas.openxmlformats.org/drawingml/2006/main" prst="roundRect">
            <a:avLst>
              <a:gd name="adj" fmla="val 8333"/>
            </a:avLst>
          </a:prstGeom>
        </p:spPr>
      </p:pic>
      <p:sp>
        <p:nvSpPr>
          <p:cNvPr id="12" name="">
            <a:extLst xmlns:a="http://schemas.openxmlformats.org/drawingml/2006/main">
              <a:ext uri="{FF2B5EF4-FFF2-40B4-BE49-F238E27FC236}">
                <a16:creationId xmlns:a16="http://schemas.microsoft.com/office/drawing/2014/main" id="{137BAA65-EB81-43FD-B338-AA28489859A8}"/>
              </a:ext>
            </a:extLst>
          </p:cNvPr>
          <p:cNvSpPr>
            <a:spLocks xmlns:a="http://schemas.openxmlformats.org/drawingml/2006/main" noGrp="1"/>
          </p:cNvSpPr>
          <p:nvPr/>
        </p:nvSpPr>
        <p:spPr>
          <a:xfrm xmlns:a="http://schemas.openxmlformats.org/drawingml/2006/main">
            <a:off x="8763000" y="3838575"/>
            <a:ext cx="2286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702"/>
          </a:bodyPr>
          <a:lstStyle xmlns:a="http://schemas.openxmlformats.org/drawingml/2006/main"/>
          <a:p xmlns:a="http://schemas.openxmlformats.org/drawingml/2006/main">
            <a:pPr algn="ctr">
              <a:defRPr sz="1425" b="1">
                <a:solidFill>
                  <a:srgbClr val="8FA8FF"/>
                </a:solidFill>
                <a:latin typeface="Helvetica Neue"/>
                <a:ea typeface="Helvetica Neue"/>
                <a:cs typeface="Helvetica Neue"/>
              </a:defRPr>
            </a:pPr>
            <a:r>
              <a:rPr sz="1425" b="1">
                <a:solidFill>
                  <a:srgbClr val="8FA8FF"/>
                </a:solidFill>
                <a:latin typeface="Helvetica Neue"/>
                <a:ea typeface="Helvetica Neue"/>
                <a:cs typeface="Helvetica Neue"/>
              </a:rPr>
              <a:t>Regla clave</a:t>
            </a:r>
          </a:p>
        </p:txBody>
      </p:sp>
      <p:sp>
        <p:nvSpPr>
          <p:cNvPr id="13" name="">
            <a:extLst xmlns:a="http://schemas.openxmlformats.org/drawingml/2006/main">
              <a:ext uri="{FF2B5EF4-FFF2-40B4-BE49-F238E27FC236}">
                <a16:creationId xmlns:a16="http://schemas.microsoft.com/office/drawing/2014/main" id="{492B8FC5-157B-4321-A600-0E42BD53DEA2}"/>
              </a:ext>
            </a:extLst>
          </p:cNvPr>
          <p:cNvSpPr>
            <a:spLocks xmlns:a="http://schemas.openxmlformats.org/drawingml/2006/main" noGrp="1"/>
          </p:cNvSpPr>
          <p:nvPr/>
        </p:nvSpPr>
        <p:spPr>
          <a:xfrm xmlns:a="http://schemas.openxmlformats.org/drawingml/2006/main">
            <a:off x="8686800" y="4314825"/>
            <a:ext cx="24384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2343"/>
          </a:bodyPr>
          <a:lstStyle xmlns:a="http://schemas.openxmlformats.org/drawingml/2006/main"/>
          <a:p xmlns:a="http://schemas.openxmlformats.org/drawingml/2006/main">
            <a:pPr algn="ctr">
              <a:defRPr sz="1650" b="1">
                <a:solidFill>
                  <a:srgbClr val="7DD3A7"/>
                </a:solidFill>
                <a:latin typeface="Helvetica Neue"/>
                <a:ea typeface="Helvetica Neue"/>
                <a:cs typeface="Helvetica Neue"/>
              </a:defRPr>
            </a:pPr>
            <a:r>
              <a:rPr sz="1650" b="1">
                <a:solidFill>
                  <a:srgbClr val="7DD3A7"/>
                </a:solidFill>
                <a:latin typeface="Helvetica Neue"/>
                <a:ea typeface="Helvetica Neue"/>
                <a:cs typeface="Helvetica Neue"/>
              </a:rPr>
              <a:t>El abogado revisa y confirma antes de registrar.</a:t>
            </a:r>
          </a:p>
        </p:txBody>
      </p:sp>
    </p:spTree>
    <p:extLst>
      <p:ext uri="{BB962C8B-B14F-4D97-AF65-F5344CB8AC3E}">
        <p14:creationId xmlns:p14="http://schemas.microsoft.com/office/powerpoint/2010/main" val="1833348157"/>
      </p:ext>
    </p:extLst>
  </p:cSld>
</p:sld>
</file>

<file path=ppt/slides/slide7.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30" name="">
            <a:extLst xmlns:a="http://schemas.openxmlformats.org/drawingml/2006/main">
              <a:ext uri="{FF2B5EF4-FFF2-40B4-BE49-F238E27FC236}">
                <a16:creationId xmlns:a16="http://schemas.microsoft.com/office/drawing/2014/main" id="{6F7F45C8-C205-44F6-B13E-2241EBC1CA3C}"/>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42C7B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8702F604-726C-4548-B8E9-226A722FD3A0}"/>
              </a:ext>
            </a:extLst>
          </p:cNvPr>
          <p:cNvSpPr>
            <a:spLocks xmlns:a="http://schemas.openxmlformats.org/drawingml/2006/main" noGrp="1"/>
          </p:cNvSpPr>
          <p:nvPr/>
        </p:nvSpPr>
        <p:spPr>
          <a:xfrm xmlns:a="http://schemas.openxmlformats.org/drawingml/2006/main">
            <a:off x="685800" y="37147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spc="1">
                <a:solidFill>
                  <a:srgbClr val="8FA8FF"/>
                </a:solidFill>
                <a:latin typeface="Helvetica Neue"/>
                <a:ea typeface="Helvetica Neue"/>
                <a:cs typeface="Helvetica Neue"/>
              </a:defRPr>
            </a:pPr>
            <a:r>
              <a:rPr sz="900" b="1" spc="1">
                <a:solidFill>
                  <a:srgbClr val="8FA8FF"/>
                </a:solidFill>
                <a:latin typeface="Helvetica Neue"/>
                <a:ea typeface="Helvetica Neue"/>
                <a:cs typeface="Helvetica Neue"/>
              </a:rPr>
              <a:t>GESTIÓN</a:t>
            </a:r>
          </a:p>
        </p:txBody>
      </p:sp>
      <p:sp>
        <p:nvSpPr>
          <p:cNvPr id="3" name="">
            <a:extLst xmlns:a="http://schemas.openxmlformats.org/drawingml/2006/main">
              <a:ext uri="{FF2B5EF4-FFF2-40B4-BE49-F238E27FC236}">
                <a16:creationId xmlns:a16="http://schemas.microsoft.com/office/drawing/2014/main" id="{944D8E25-4582-4717-B134-64E12C29C028}"/>
              </a:ext>
            </a:extLst>
          </p:cNvPr>
          <p:cNvSpPr>
            <a:spLocks xmlns:a="http://schemas.openxmlformats.org/drawingml/2006/main" noGrp="1"/>
          </p:cNvSpPr>
          <p:nvPr/>
        </p:nvSpPr>
        <p:spPr>
          <a:xfrm xmlns:a="http://schemas.openxmlformats.org/drawingml/2006/main">
            <a:off x="9906000" y="371475"/>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r">
              <a:defRPr sz="900" b="1">
                <a:solidFill>
                  <a:srgbClr val="AEB8C4"/>
                </a:solidFill>
                <a:latin typeface="Helvetica Neue"/>
                <a:ea typeface="Helvetica Neue"/>
                <a:cs typeface="Helvetica Neue"/>
              </a:defRPr>
            </a:pPr>
            <a:r>
              <a:rPr sz="900" b="1">
                <a:solidFill>
                  <a:srgbClr val="AEB8C4"/>
                </a:solidFill>
                <a:latin typeface="Helvetica Neue"/>
                <a:ea typeface="Helvetica Neue"/>
                <a:cs typeface="Helvetica Neue"/>
              </a:rPr>
              <a:t>Emerson</a:t>
            </a:r>
          </a:p>
        </p:txBody>
      </p:sp>
      <p:sp>
        <p:nvSpPr>
          <p:cNvPr id="4" name="">
            <a:extLst xmlns:a="http://schemas.openxmlformats.org/drawingml/2006/main">
              <a:ext uri="{FF2B5EF4-FFF2-40B4-BE49-F238E27FC236}">
                <a16:creationId xmlns:a16="http://schemas.microsoft.com/office/drawing/2014/main" id="{6A971FF5-9751-43C2-A61E-C2E5C0C67865}"/>
              </a:ext>
            </a:extLst>
          </p:cNvPr>
          <p:cNvSpPr>
            <a:spLocks xmlns:a="http://schemas.openxmlformats.org/drawingml/2006/main" noGrp="1"/>
          </p:cNvSpPr>
          <p:nvPr/>
        </p:nvSpPr>
        <p:spPr>
          <a:xfrm xmlns:a="http://schemas.openxmlformats.org/drawingml/2006/main">
            <a:off x="10906125" y="643890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lgn="r">
              <a:defRPr sz="825" b="1">
                <a:solidFill>
                  <a:srgbClr val="AEB8C4"/>
                </a:solidFill>
                <a:latin typeface="Helvetica Neue"/>
                <a:ea typeface="Helvetica Neue"/>
                <a:cs typeface="Helvetica Neue"/>
              </a:defRPr>
            </a:pPr>
            <a:r>
              <a:rPr sz="825" b="1">
                <a:solidFill>
                  <a:srgbClr val="AEB8C4"/>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5F96A04B-D934-4ED5-8063-44C59E7541DF}"/>
              </a:ext>
            </a:extLst>
          </p:cNvPr>
          <p:cNvSpPr>
            <a:spLocks xmlns:a="http://schemas.openxmlformats.org/drawingml/2006/main" noGrp="1"/>
          </p:cNvSpPr>
          <p:nvPr/>
        </p:nvSpPr>
        <p:spPr>
          <a:xfrm xmlns:a="http://schemas.openxmlformats.org/drawingml/2006/main">
            <a:off x="685800" y="914400"/>
            <a:ext cx="6572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4872"/>
          </a:bodyPr>
          <a:lstStyle xmlns:a="http://schemas.openxmlformats.org/drawingml/2006/main"/>
          <a:p xmlns:a="http://schemas.openxmlformats.org/drawingml/2006/main">
            <a:pPr>
              <a:defRPr sz="2925" b="1">
                <a:solidFill>
                  <a:srgbClr val="F4F7FA"/>
                </a:solidFill>
                <a:latin typeface="Helvetica Neue"/>
                <a:ea typeface="Helvetica Neue"/>
                <a:cs typeface="Helvetica Neue"/>
              </a:defRPr>
            </a:pPr>
            <a:r>
              <a:rPr sz="2925" b="1">
                <a:solidFill>
                  <a:srgbClr val="F4F7FA"/>
                </a:solidFill>
                <a:latin typeface="Helvetica Neue"/>
                <a:ea typeface="Helvetica Neue"/>
                <a:cs typeface="Helvetica Neue"/>
              </a:rPr>
              <a:t>Plan de implementación</a:t>
            </a:r>
          </a:p>
        </p:txBody>
      </p:sp>
      <p:sp>
        <p:nvSpPr>
          <p:cNvPr id="6" name="">
            <a:extLst xmlns:a="http://schemas.openxmlformats.org/drawingml/2006/main">
              <a:ext uri="{FF2B5EF4-FFF2-40B4-BE49-F238E27FC236}">
                <a16:creationId xmlns:a16="http://schemas.microsoft.com/office/drawing/2014/main" id="{DCE02119-298C-42AF-8152-C37CE7ED7DCA}"/>
              </a:ext>
            </a:extLst>
          </p:cNvPr>
          <p:cNvSpPr>
            <a:spLocks xmlns:a="http://schemas.openxmlformats.org/drawingml/2006/main" noGrp="1"/>
          </p:cNvSpPr>
          <p:nvPr/>
        </p:nvSpPr>
        <p:spPr>
          <a:xfrm xmlns:a="http://schemas.openxmlformats.org/drawingml/2006/main">
            <a:off x="685800" y="1619250"/>
            <a:ext cx="6953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424"/>
          </a:bodyPr>
          <a:lstStyle xmlns:a="http://schemas.openxmlformats.org/drawingml/2006/main"/>
          <a:p xmlns:a="http://schemas.openxmlformats.org/drawingml/2006/main">
            <a:pPr>
              <a:defRPr sz="1650">
                <a:solidFill>
                  <a:srgbClr val="AEB8C4"/>
                </a:solidFill>
                <a:latin typeface="Helvetica Neue"/>
                <a:ea typeface="Helvetica Neue"/>
                <a:cs typeface="Helvetica Neue"/>
              </a:defRPr>
            </a:pPr>
            <a:r>
              <a:rPr sz="1650">
                <a:solidFill>
                  <a:srgbClr val="AEB8C4"/>
                </a:solidFill>
                <a:latin typeface="Helvetica Neue"/>
                <a:ea typeface="Helvetica Neue"/>
                <a:cs typeface="Helvetica Neue"/>
              </a:rPr>
              <a:t>Propuesta de cuatro iteraciones de dos semanas.</a:t>
            </a:r>
          </a:p>
        </p:txBody>
      </p:sp>
      <p:pic>
        <p:nvPicPr>
          <p:cNvPr id="36" name=""/>
          <p:cNvPicPr>
            <a:picLocks xmlns:a="http://schemas.openxmlformats.org/drawingml/2006/main" noChangeAspect="1"/>
          </p:cNvPicPr>
          <p:nvPr/>
        </p:nvPicPr>
        <p:blipFill>
          <a:blip xmlns:r="http://schemas.openxmlformats.org/officeDocument/2006/relationships" xmlns:a="http://schemas.openxmlformats.org/drawingml/2006/main" r:embed="R00638c4e64364d8d"/>
          <a:stretch xmlns:a="http://schemas.openxmlformats.org/drawingml/2006/main"/>
        </p:blipFill>
        <p:spPr>
          <a:xfrm xmlns:a="http://schemas.openxmlformats.org/drawingml/2006/main">
            <a:off x="1314450" y="2476500"/>
            <a:ext cx="742950" cy="742950"/>
          </a:xfrm>
          <a:prstGeom xmlns:a="http://schemas.openxmlformats.org/drawingml/2006/main" prst="roundRect">
            <a:avLst>
              <a:gd name="adj" fmla="val 10256"/>
            </a:avLst>
          </a:prstGeom>
        </p:spPr>
      </p:pic>
      <p:sp>
        <p:nvSpPr>
          <p:cNvPr id="8" name="">
            <a:extLst xmlns:a="http://schemas.openxmlformats.org/drawingml/2006/main">
              <a:ext uri="{FF2B5EF4-FFF2-40B4-BE49-F238E27FC236}">
                <a16:creationId xmlns:a16="http://schemas.microsoft.com/office/drawing/2014/main" id="{DD51CF9A-B336-455C-AEFD-E7D0A7AA223E}"/>
              </a:ext>
            </a:extLst>
          </p:cNvPr>
          <p:cNvSpPr>
            <a:spLocks xmlns:a="http://schemas.openxmlformats.org/drawingml/2006/main" noGrp="1"/>
          </p:cNvSpPr>
          <p:nvPr/>
        </p:nvSpPr>
        <p:spPr>
          <a:xfrm xmlns:a="http://schemas.openxmlformats.org/drawingml/2006/main">
            <a:off x="685800" y="342900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lgn="ctr">
              <a:defRPr sz="1125" b="1">
                <a:solidFill>
                  <a:srgbClr val="8FA8FF"/>
                </a:solidFill>
                <a:latin typeface="Helvetica Neue"/>
                <a:ea typeface="Helvetica Neue"/>
                <a:cs typeface="Helvetica Neue"/>
              </a:defRPr>
            </a:pPr>
            <a:r>
              <a:rPr sz="1125" b="1">
                <a:solidFill>
                  <a:srgbClr val="8FA8FF"/>
                </a:solidFill>
                <a:latin typeface="Helvetica Neue"/>
                <a:ea typeface="Helvetica Neue"/>
                <a:cs typeface="Helvetica Neue"/>
              </a:rPr>
              <a:t>ITERACIÓN 1</a:t>
            </a:r>
          </a:p>
        </p:txBody>
      </p:sp>
      <p:sp>
        <p:nvSpPr>
          <p:cNvPr id="9" name="">
            <a:extLst xmlns:a="http://schemas.openxmlformats.org/drawingml/2006/main">
              <a:ext uri="{FF2B5EF4-FFF2-40B4-BE49-F238E27FC236}">
                <a16:creationId xmlns:a16="http://schemas.microsoft.com/office/drawing/2014/main" id="{7BD27DD2-846C-4D95-AD09-584997DE3470}"/>
              </a:ext>
            </a:extLst>
          </p:cNvPr>
          <p:cNvSpPr>
            <a:spLocks xmlns:a="http://schemas.openxmlformats.org/drawingml/2006/main" noGrp="1"/>
          </p:cNvSpPr>
          <p:nvPr/>
        </p:nvSpPr>
        <p:spPr>
          <a:xfrm xmlns:a="http://schemas.openxmlformats.org/drawingml/2006/main">
            <a:off x="685800" y="384810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016"/>
          </a:bodyPr>
          <a:lstStyle xmlns:a="http://schemas.openxmlformats.org/drawingml/2006/main"/>
          <a:p xmlns:a="http://schemas.openxmlformats.org/drawingml/2006/main">
            <a:pPr algn="ctr">
              <a:defRPr sz="1575" b="1">
                <a:solidFill>
                  <a:srgbClr val="F4F7FA"/>
                </a:solidFill>
                <a:latin typeface="Helvetica Neue"/>
                <a:ea typeface="Helvetica Neue"/>
                <a:cs typeface="Helvetica Neue"/>
              </a:defRPr>
            </a:pPr>
            <a:r>
              <a:rPr sz="1575" b="1">
                <a:solidFill>
                  <a:srgbClr val="F4F7FA"/>
                </a:solidFill>
                <a:latin typeface="Helvetica Neue"/>
                <a:ea typeface="Helvetica Neue"/>
                <a:cs typeface="Helvetica Neue"/>
              </a:rPr>
              <a:t>Cuenta y acceso</a:t>
            </a:r>
          </a:p>
        </p:txBody>
      </p:sp>
      <p:sp>
        <p:nvSpPr>
          <p:cNvPr id="10" name="">
            <a:extLst xmlns:a="http://schemas.openxmlformats.org/drawingml/2006/main">
              <a:ext uri="{FF2B5EF4-FFF2-40B4-BE49-F238E27FC236}">
                <a16:creationId xmlns:a16="http://schemas.microsoft.com/office/drawing/2014/main" id="{CF8F4AE0-CB58-404B-9D5C-B89A7E527E15}"/>
              </a:ext>
            </a:extLst>
          </p:cNvPr>
          <p:cNvSpPr>
            <a:spLocks xmlns:a="http://schemas.openxmlformats.org/drawingml/2006/main" noGrp="1"/>
          </p:cNvSpPr>
          <p:nvPr/>
        </p:nvSpPr>
        <p:spPr>
          <a:xfrm xmlns:a="http://schemas.openxmlformats.org/drawingml/2006/main">
            <a:off x="685800" y="42195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ctr">
              <a:defRPr sz="1200">
                <a:solidFill>
                  <a:srgbClr val="AEB8C4"/>
                </a:solidFill>
                <a:latin typeface="Helvetica Neue"/>
                <a:ea typeface="Helvetica Neue"/>
                <a:cs typeface="Helvetica Neue"/>
              </a:defRPr>
            </a:pPr>
            <a:r>
              <a:rPr sz="1200">
                <a:solidFill>
                  <a:srgbClr val="AEB8C4"/>
                </a:solidFill>
                <a:latin typeface="Helvetica Neue"/>
                <a:ea typeface="Helvetica Neue"/>
                <a:cs typeface="Helvetica Neue"/>
              </a:rPr>
              <a:t>Base de causas</a:t>
            </a:r>
          </a:p>
        </p:txBody>
      </p:sp>
      <p:sp>
        <p:nvSpPr>
          <p:cNvPr id="11" name="">
            <a:extLst xmlns:a="http://schemas.openxmlformats.org/drawingml/2006/main">
              <a:ext uri="{FF2B5EF4-FFF2-40B4-BE49-F238E27FC236}">
                <a16:creationId xmlns:a16="http://schemas.microsoft.com/office/drawing/2014/main" id="{5898665E-A3B1-4605-A3D3-39EEF45E71A4}"/>
              </a:ext>
            </a:extLst>
          </p:cNvPr>
          <p:cNvSpPr>
            <a:spLocks xmlns:a="http://schemas.openxmlformats.org/drawingml/2006/main" noGrp="1"/>
          </p:cNvSpPr>
          <p:nvPr/>
        </p:nvSpPr>
        <p:spPr>
          <a:xfrm xmlns:a="http://schemas.openxmlformats.org/drawingml/2006/main">
            <a:off x="685800" y="469582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lgn="ctr">
              <a:defRPr sz="1275" b="1">
                <a:solidFill>
                  <a:srgbClr val="42C7B9"/>
                </a:solidFill>
                <a:latin typeface="Helvetica Neue"/>
                <a:ea typeface="Helvetica Neue"/>
                <a:cs typeface="Helvetica Neue"/>
              </a:defRPr>
            </a:pPr>
            <a:r>
              <a:rPr sz="1275" b="1">
                <a:solidFill>
                  <a:srgbClr val="42C7B9"/>
                </a:solidFill>
                <a:latin typeface="Helvetica Neue"/>
                <a:ea typeface="Helvetica Neue"/>
                <a:cs typeface="Helvetica Neue"/>
              </a:rPr>
              <a:t>2 semanas</a:t>
            </a:r>
          </a:p>
        </p:txBody>
      </p:sp>
      <p:pic>
        <p:nvPicPr>
          <p:cNvPr id="41" name=""/>
          <p:cNvPicPr>
            <a:picLocks xmlns:a="http://schemas.openxmlformats.org/drawingml/2006/main" noChangeAspect="1"/>
          </p:cNvPicPr>
          <p:nvPr/>
        </p:nvPicPr>
        <p:blipFill>
          <a:blip xmlns:r="http://schemas.openxmlformats.org/officeDocument/2006/relationships" xmlns:a="http://schemas.openxmlformats.org/drawingml/2006/main" r:embed="R38af3cb9f5f846a1"/>
          <a:stretch xmlns:a="http://schemas.openxmlformats.org/drawingml/2006/main"/>
        </p:blipFill>
        <p:spPr>
          <a:xfrm xmlns:a="http://schemas.openxmlformats.org/drawingml/2006/main">
            <a:off x="4038600" y="2476500"/>
            <a:ext cx="742950" cy="742950"/>
          </a:xfrm>
          <a:prstGeom xmlns:a="http://schemas.openxmlformats.org/drawingml/2006/main" prst="roundRect">
            <a:avLst>
              <a:gd name="adj" fmla="val 10256"/>
            </a:avLst>
          </a:prstGeom>
        </p:spPr>
      </p:pic>
      <p:sp>
        <p:nvSpPr>
          <p:cNvPr id="13" name="">
            <a:extLst xmlns:a="http://schemas.openxmlformats.org/drawingml/2006/main">
              <a:ext uri="{FF2B5EF4-FFF2-40B4-BE49-F238E27FC236}">
                <a16:creationId xmlns:a16="http://schemas.microsoft.com/office/drawing/2014/main" id="{C02EC8F1-B173-474D-8312-64AAE06B03B1}"/>
              </a:ext>
            </a:extLst>
          </p:cNvPr>
          <p:cNvSpPr>
            <a:spLocks xmlns:a="http://schemas.openxmlformats.org/drawingml/2006/main" noGrp="1"/>
          </p:cNvSpPr>
          <p:nvPr/>
        </p:nvSpPr>
        <p:spPr>
          <a:xfrm xmlns:a="http://schemas.openxmlformats.org/drawingml/2006/main">
            <a:off x="3409950" y="342900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lgn="ctr">
              <a:defRPr sz="1125" b="1">
                <a:solidFill>
                  <a:srgbClr val="8FA8FF"/>
                </a:solidFill>
                <a:latin typeface="Helvetica Neue"/>
                <a:ea typeface="Helvetica Neue"/>
                <a:cs typeface="Helvetica Neue"/>
              </a:defRPr>
            </a:pPr>
            <a:r>
              <a:rPr sz="1125" b="1">
                <a:solidFill>
                  <a:srgbClr val="8FA8FF"/>
                </a:solidFill>
                <a:latin typeface="Helvetica Neue"/>
                <a:ea typeface="Helvetica Neue"/>
                <a:cs typeface="Helvetica Neue"/>
              </a:rPr>
              <a:t>ITERACIÓN 2</a:t>
            </a:r>
          </a:p>
        </p:txBody>
      </p:sp>
      <p:sp>
        <p:nvSpPr>
          <p:cNvPr id="14" name="">
            <a:extLst xmlns:a="http://schemas.openxmlformats.org/drawingml/2006/main">
              <a:ext uri="{FF2B5EF4-FFF2-40B4-BE49-F238E27FC236}">
                <a16:creationId xmlns:a16="http://schemas.microsoft.com/office/drawing/2014/main" id="{C41BEA9A-3374-4B29-A749-B62400461C1E}"/>
              </a:ext>
            </a:extLst>
          </p:cNvPr>
          <p:cNvSpPr>
            <a:spLocks xmlns:a="http://schemas.openxmlformats.org/drawingml/2006/main" noGrp="1"/>
          </p:cNvSpPr>
          <p:nvPr/>
        </p:nvSpPr>
        <p:spPr>
          <a:xfrm xmlns:a="http://schemas.openxmlformats.org/drawingml/2006/main">
            <a:off x="3409950" y="384810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016"/>
          </a:bodyPr>
          <a:lstStyle xmlns:a="http://schemas.openxmlformats.org/drawingml/2006/main"/>
          <a:p xmlns:a="http://schemas.openxmlformats.org/drawingml/2006/main">
            <a:pPr algn="ctr">
              <a:defRPr sz="1575" b="1">
                <a:solidFill>
                  <a:srgbClr val="F4F7FA"/>
                </a:solidFill>
                <a:latin typeface="Helvetica Neue"/>
                <a:ea typeface="Helvetica Neue"/>
                <a:cs typeface="Helvetica Neue"/>
              </a:defRPr>
            </a:pPr>
            <a:r>
              <a:rPr sz="1575" b="1">
                <a:solidFill>
                  <a:srgbClr val="F4F7FA"/>
                </a:solidFill>
                <a:latin typeface="Helvetica Neue"/>
                <a:ea typeface="Helvetica Neue"/>
                <a:cs typeface="Helvetica Neue"/>
              </a:rPr>
              <a:t>Comunicación</a:t>
            </a:r>
          </a:p>
        </p:txBody>
      </p:sp>
      <p:sp>
        <p:nvSpPr>
          <p:cNvPr id="15" name="">
            <a:extLst xmlns:a="http://schemas.openxmlformats.org/drawingml/2006/main">
              <a:ext uri="{FF2B5EF4-FFF2-40B4-BE49-F238E27FC236}">
                <a16:creationId xmlns:a16="http://schemas.microsoft.com/office/drawing/2014/main" id="{A21D7151-1130-4D4D-9AC9-EDEABABF994D}"/>
              </a:ext>
            </a:extLst>
          </p:cNvPr>
          <p:cNvSpPr>
            <a:spLocks xmlns:a="http://schemas.openxmlformats.org/drawingml/2006/main" noGrp="1"/>
          </p:cNvSpPr>
          <p:nvPr/>
        </p:nvSpPr>
        <p:spPr>
          <a:xfrm xmlns:a="http://schemas.openxmlformats.org/drawingml/2006/main">
            <a:off x="3409950" y="42195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ctr">
              <a:defRPr sz="1200">
                <a:solidFill>
                  <a:srgbClr val="AEB8C4"/>
                </a:solidFill>
                <a:latin typeface="Helvetica Neue"/>
                <a:ea typeface="Helvetica Neue"/>
                <a:cs typeface="Helvetica Neue"/>
              </a:defRPr>
            </a:pPr>
            <a:r>
              <a:rPr sz="1200">
                <a:solidFill>
                  <a:srgbClr val="AEB8C4"/>
                </a:solidFill>
                <a:latin typeface="Helvetica Neue"/>
                <a:ea typeface="Helvetica Neue"/>
                <a:cs typeface="Helvetica Neue"/>
              </a:rPr>
              <a:t>Sugerencias</a:t>
            </a:r>
          </a:p>
        </p:txBody>
      </p:sp>
      <p:sp>
        <p:nvSpPr>
          <p:cNvPr id="16" name="">
            <a:extLst xmlns:a="http://schemas.openxmlformats.org/drawingml/2006/main">
              <a:ext uri="{FF2B5EF4-FFF2-40B4-BE49-F238E27FC236}">
                <a16:creationId xmlns:a16="http://schemas.microsoft.com/office/drawing/2014/main" id="{5FAD6580-DE1F-4BF7-9BBE-0AF2139C6BD4}"/>
              </a:ext>
            </a:extLst>
          </p:cNvPr>
          <p:cNvSpPr>
            <a:spLocks xmlns:a="http://schemas.openxmlformats.org/drawingml/2006/main" noGrp="1"/>
          </p:cNvSpPr>
          <p:nvPr/>
        </p:nvSpPr>
        <p:spPr>
          <a:xfrm xmlns:a="http://schemas.openxmlformats.org/drawingml/2006/main">
            <a:off x="3409950" y="469582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lgn="ctr">
              <a:defRPr sz="1275" b="1">
                <a:solidFill>
                  <a:srgbClr val="42C7B9"/>
                </a:solidFill>
                <a:latin typeface="Helvetica Neue"/>
                <a:ea typeface="Helvetica Neue"/>
                <a:cs typeface="Helvetica Neue"/>
              </a:defRPr>
            </a:pPr>
            <a:r>
              <a:rPr sz="1275" b="1">
                <a:solidFill>
                  <a:srgbClr val="42C7B9"/>
                </a:solidFill>
                <a:latin typeface="Helvetica Neue"/>
                <a:ea typeface="Helvetica Neue"/>
                <a:cs typeface="Helvetica Neue"/>
              </a:rPr>
              <a:t>2 semanas</a:t>
            </a:r>
          </a:p>
        </p:txBody>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9a37b9521ffb46c3"/>
          <a:stretch xmlns:a="http://schemas.openxmlformats.org/drawingml/2006/main"/>
        </p:blipFill>
        <p:spPr>
          <a:xfrm xmlns:a="http://schemas.openxmlformats.org/drawingml/2006/main">
            <a:off x="6762750" y="2476500"/>
            <a:ext cx="742950" cy="742950"/>
          </a:xfrm>
          <a:prstGeom xmlns:a="http://schemas.openxmlformats.org/drawingml/2006/main" prst="roundRect">
            <a:avLst>
              <a:gd name="adj" fmla="val 10256"/>
            </a:avLst>
          </a:prstGeom>
        </p:spPr>
      </p:pic>
      <p:sp>
        <p:nvSpPr>
          <p:cNvPr id="18" name="">
            <a:extLst xmlns:a="http://schemas.openxmlformats.org/drawingml/2006/main">
              <a:ext uri="{FF2B5EF4-FFF2-40B4-BE49-F238E27FC236}">
                <a16:creationId xmlns:a16="http://schemas.microsoft.com/office/drawing/2014/main" id="{4C0EB9F4-9C8D-487D-96C8-E18BFBD367A2}"/>
              </a:ext>
            </a:extLst>
          </p:cNvPr>
          <p:cNvSpPr>
            <a:spLocks xmlns:a="http://schemas.openxmlformats.org/drawingml/2006/main" noGrp="1"/>
          </p:cNvSpPr>
          <p:nvPr/>
        </p:nvSpPr>
        <p:spPr>
          <a:xfrm xmlns:a="http://schemas.openxmlformats.org/drawingml/2006/main">
            <a:off x="6134100" y="342900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lgn="ctr">
              <a:defRPr sz="1125" b="1">
                <a:solidFill>
                  <a:srgbClr val="8FA8FF"/>
                </a:solidFill>
                <a:latin typeface="Helvetica Neue"/>
                <a:ea typeface="Helvetica Neue"/>
                <a:cs typeface="Helvetica Neue"/>
              </a:defRPr>
            </a:pPr>
            <a:r>
              <a:rPr sz="1125" b="1">
                <a:solidFill>
                  <a:srgbClr val="8FA8FF"/>
                </a:solidFill>
                <a:latin typeface="Helvetica Neue"/>
                <a:ea typeface="Helvetica Neue"/>
                <a:cs typeface="Helvetica Neue"/>
              </a:rPr>
              <a:t>ITERACIÓN 3</a:t>
            </a:r>
          </a:p>
        </p:txBody>
      </p:sp>
      <p:sp>
        <p:nvSpPr>
          <p:cNvPr id="19" name="">
            <a:extLst xmlns:a="http://schemas.openxmlformats.org/drawingml/2006/main">
              <a:ext uri="{FF2B5EF4-FFF2-40B4-BE49-F238E27FC236}">
                <a16:creationId xmlns:a16="http://schemas.microsoft.com/office/drawing/2014/main" id="{C4CC86F4-86FC-47B9-B798-E2ACA7F29505}"/>
              </a:ext>
            </a:extLst>
          </p:cNvPr>
          <p:cNvSpPr>
            <a:spLocks xmlns:a="http://schemas.openxmlformats.org/drawingml/2006/main" noGrp="1"/>
          </p:cNvSpPr>
          <p:nvPr/>
        </p:nvSpPr>
        <p:spPr>
          <a:xfrm xmlns:a="http://schemas.openxmlformats.org/drawingml/2006/main">
            <a:off x="6134100" y="384810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016"/>
          </a:bodyPr>
          <a:lstStyle xmlns:a="http://schemas.openxmlformats.org/drawingml/2006/main"/>
          <a:p xmlns:a="http://schemas.openxmlformats.org/drawingml/2006/main">
            <a:pPr algn="ctr">
              <a:defRPr sz="1575" b="1">
                <a:solidFill>
                  <a:srgbClr val="F4F7FA"/>
                </a:solidFill>
                <a:latin typeface="Helvetica Neue"/>
                <a:ea typeface="Helvetica Neue"/>
                <a:cs typeface="Helvetica Neue"/>
              </a:defRPr>
            </a:pPr>
            <a:r>
              <a:rPr sz="1575" b="1">
                <a:solidFill>
                  <a:srgbClr val="F4F7FA"/>
                </a:solidFill>
                <a:latin typeface="Helvetica Neue"/>
                <a:ea typeface="Helvetica Neue"/>
                <a:cs typeface="Helvetica Neue"/>
              </a:rPr>
              <a:t>Portal cliente</a:t>
            </a:r>
          </a:p>
        </p:txBody>
      </p:sp>
      <p:sp>
        <p:nvSpPr>
          <p:cNvPr id="20" name="">
            <a:extLst xmlns:a="http://schemas.openxmlformats.org/drawingml/2006/main">
              <a:ext uri="{FF2B5EF4-FFF2-40B4-BE49-F238E27FC236}">
                <a16:creationId xmlns:a16="http://schemas.microsoft.com/office/drawing/2014/main" id="{6DCE9B39-E5A0-4617-8DC3-DBDEB1773D46}"/>
              </a:ext>
            </a:extLst>
          </p:cNvPr>
          <p:cNvSpPr>
            <a:spLocks xmlns:a="http://schemas.openxmlformats.org/drawingml/2006/main" noGrp="1"/>
          </p:cNvSpPr>
          <p:nvPr/>
        </p:nvSpPr>
        <p:spPr>
          <a:xfrm xmlns:a="http://schemas.openxmlformats.org/drawingml/2006/main">
            <a:off x="6134100" y="42195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ctr">
              <a:defRPr sz="1200">
                <a:solidFill>
                  <a:srgbClr val="AEB8C4"/>
                </a:solidFill>
                <a:latin typeface="Helvetica Neue"/>
                <a:ea typeface="Helvetica Neue"/>
                <a:cs typeface="Helvetica Neue"/>
              </a:defRPr>
            </a:pPr>
            <a:r>
              <a:rPr sz="1200">
                <a:solidFill>
                  <a:srgbClr val="AEB8C4"/>
                </a:solidFill>
                <a:latin typeface="Helvetica Neue"/>
                <a:ea typeface="Helvetica Neue"/>
                <a:cs typeface="Helvetica Neue"/>
              </a:rPr>
              <a:t>Funciones secundarias</a:t>
            </a:r>
          </a:p>
        </p:txBody>
      </p:sp>
      <p:sp>
        <p:nvSpPr>
          <p:cNvPr id="21" name="">
            <a:extLst xmlns:a="http://schemas.openxmlformats.org/drawingml/2006/main">
              <a:ext uri="{FF2B5EF4-FFF2-40B4-BE49-F238E27FC236}">
                <a16:creationId xmlns:a16="http://schemas.microsoft.com/office/drawing/2014/main" id="{79F3E66D-D0C8-42FD-9B06-F3FDB8727855}"/>
              </a:ext>
            </a:extLst>
          </p:cNvPr>
          <p:cNvSpPr>
            <a:spLocks xmlns:a="http://schemas.openxmlformats.org/drawingml/2006/main" noGrp="1"/>
          </p:cNvSpPr>
          <p:nvPr/>
        </p:nvSpPr>
        <p:spPr>
          <a:xfrm xmlns:a="http://schemas.openxmlformats.org/drawingml/2006/main">
            <a:off x="6134100" y="469582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lgn="ctr">
              <a:defRPr sz="1275" b="1">
                <a:solidFill>
                  <a:srgbClr val="42C7B9"/>
                </a:solidFill>
                <a:latin typeface="Helvetica Neue"/>
                <a:ea typeface="Helvetica Neue"/>
                <a:cs typeface="Helvetica Neue"/>
              </a:defRPr>
            </a:pPr>
            <a:r>
              <a:rPr sz="1275" b="1">
                <a:solidFill>
                  <a:srgbClr val="42C7B9"/>
                </a:solidFill>
                <a:latin typeface="Helvetica Neue"/>
                <a:ea typeface="Helvetica Neue"/>
                <a:cs typeface="Helvetica Neue"/>
              </a:rPr>
              <a:t>2 semanas</a:t>
            </a:r>
          </a:p>
        </p:txBody>
      </p:sp>
      <p:pic>
        <p:nvPicPr>
          <p:cNvPr id="51" name=""/>
          <p:cNvPicPr>
            <a:picLocks xmlns:a="http://schemas.openxmlformats.org/drawingml/2006/main" noChangeAspect="1"/>
          </p:cNvPicPr>
          <p:nvPr/>
        </p:nvPicPr>
        <p:blipFill>
          <a:blip xmlns:r="http://schemas.openxmlformats.org/officeDocument/2006/relationships" xmlns:a="http://schemas.openxmlformats.org/drawingml/2006/main" r:embed="Rb16fc2c182db413a"/>
          <a:stretch xmlns:a="http://schemas.openxmlformats.org/drawingml/2006/main"/>
        </p:blipFill>
        <p:spPr>
          <a:xfrm xmlns:a="http://schemas.openxmlformats.org/drawingml/2006/main">
            <a:off x="9486900" y="2476500"/>
            <a:ext cx="742950" cy="742950"/>
          </a:xfrm>
          <a:prstGeom xmlns:a="http://schemas.openxmlformats.org/drawingml/2006/main" prst="roundRect">
            <a:avLst>
              <a:gd name="adj" fmla="val 10256"/>
            </a:avLst>
          </a:prstGeom>
        </p:spPr>
      </p:pic>
      <p:sp>
        <p:nvSpPr>
          <p:cNvPr id="23" name="">
            <a:extLst xmlns:a="http://schemas.openxmlformats.org/drawingml/2006/main">
              <a:ext uri="{FF2B5EF4-FFF2-40B4-BE49-F238E27FC236}">
                <a16:creationId xmlns:a16="http://schemas.microsoft.com/office/drawing/2014/main" id="{135610CE-516A-4FB8-94D8-08AFB36B224F}"/>
              </a:ext>
            </a:extLst>
          </p:cNvPr>
          <p:cNvSpPr>
            <a:spLocks xmlns:a="http://schemas.openxmlformats.org/drawingml/2006/main" noGrp="1"/>
          </p:cNvSpPr>
          <p:nvPr/>
        </p:nvSpPr>
        <p:spPr>
          <a:xfrm xmlns:a="http://schemas.openxmlformats.org/drawingml/2006/main">
            <a:off x="8858250" y="3429000"/>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000"/>
          </a:bodyPr>
          <a:lstStyle xmlns:a="http://schemas.openxmlformats.org/drawingml/2006/main"/>
          <a:p xmlns:a="http://schemas.openxmlformats.org/drawingml/2006/main">
            <a:pPr algn="ctr">
              <a:defRPr sz="1125" b="1">
                <a:solidFill>
                  <a:srgbClr val="8FA8FF"/>
                </a:solidFill>
                <a:latin typeface="Helvetica Neue"/>
                <a:ea typeface="Helvetica Neue"/>
                <a:cs typeface="Helvetica Neue"/>
              </a:defRPr>
            </a:pPr>
            <a:r>
              <a:rPr sz="1125" b="1">
                <a:solidFill>
                  <a:srgbClr val="8FA8FF"/>
                </a:solidFill>
                <a:latin typeface="Helvetica Neue"/>
                <a:ea typeface="Helvetica Neue"/>
                <a:cs typeface="Helvetica Neue"/>
              </a:rPr>
              <a:t>ITERACIÓN 4</a:t>
            </a:r>
          </a:p>
        </p:txBody>
      </p:sp>
      <p:sp>
        <p:nvSpPr>
          <p:cNvPr id="24" name="">
            <a:extLst xmlns:a="http://schemas.openxmlformats.org/drawingml/2006/main">
              <a:ext uri="{FF2B5EF4-FFF2-40B4-BE49-F238E27FC236}">
                <a16:creationId xmlns:a16="http://schemas.microsoft.com/office/drawing/2014/main" id="{08E18939-D1C9-4D40-9A0A-2951A358D159}"/>
              </a:ext>
            </a:extLst>
          </p:cNvPr>
          <p:cNvSpPr>
            <a:spLocks xmlns:a="http://schemas.openxmlformats.org/drawingml/2006/main" noGrp="1"/>
          </p:cNvSpPr>
          <p:nvPr/>
        </p:nvSpPr>
        <p:spPr>
          <a:xfrm xmlns:a="http://schemas.openxmlformats.org/drawingml/2006/main">
            <a:off x="8858250" y="3848100"/>
            <a:ext cx="2000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3016"/>
          </a:bodyPr>
          <a:lstStyle xmlns:a="http://schemas.openxmlformats.org/drawingml/2006/main"/>
          <a:p xmlns:a="http://schemas.openxmlformats.org/drawingml/2006/main">
            <a:pPr algn="ctr">
              <a:defRPr sz="1575" b="1">
                <a:solidFill>
                  <a:srgbClr val="F4F7FA"/>
                </a:solidFill>
                <a:latin typeface="Helvetica Neue"/>
                <a:ea typeface="Helvetica Neue"/>
                <a:cs typeface="Helvetica Neue"/>
              </a:defRPr>
            </a:pPr>
            <a:r>
              <a:rPr sz="1575" b="1">
                <a:solidFill>
                  <a:srgbClr val="F4F7FA"/>
                </a:solidFill>
                <a:latin typeface="Helvetica Neue"/>
                <a:ea typeface="Helvetica Neue"/>
                <a:cs typeface="Helvetica Neue"/>
              </a:rPr>
              <a:t>Cierre</a:t>
            </a:r>
          </a:p>
        </p:txBody>
      </p:sp>
      <p:sp>
        <p:nvSpPr>
          <p:cNvPr id="25" name="">
            <a:extLst xmlns:a="http://schemas.openxmlformats.org/drawingml/2006/main">
              <a:ext uri="{FF2B5EF4-FFF2-40B4-BE49-F238E27FC236}">
                <a16:creationId xmlns:a16="http://schemas.microsoft.com/office/drawing/2014/main" id="{2C22A59D-FFFA-4D3B-9CF5-CD07605E29B2}"/>
              </a:ext>
            </a:extLst>
          </p:cNvPr>
          <p:cNvSpPr>
            <a:spLocks xmlns:a="http://schemas.openxmlformats.org/drawingml/2006/main" noGrp="1"/>
          </p:cNvSpPr>
          <p:nvPr/>
        </p:nvSpPr>
        <p:spPr>
          <a:xfrm xmlns:a="http://schemas.openxmlformats.org/drawingml/2006/main">
            <a:off x="8858250" y="4219575"/>
            <a:ext cx="2000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0208"/>
          </a:bodyPr>
          <a:lstStyle xmlns:a="http://schemas.openxmlformats.org/drawingml/2006/main"/>
          <a:p xmlns:a="http://schemas.openxmlformats.org/drawingml/2006/main">
            <a:pPr algn="ctr">
              <a:defRPr sz="1200">
                <a:solidFill>
                  <a:srgbClr val="AEB8C4"/>
                </a:solidFill>
                <a:latin typeface="Helvetica Neue"/>
                <a:ea typeface="Helvetica Neue"/>
                <a:cs typeface="Helvetica Neue"/>
              </a:defRPr>
            </a:pPr>
            <a:r>
              <a:rPr sz="1200">
                <a:solidFill>
                  <a:srgbClr val="AEB8C4"/>
                </a:solidFill>
                <a:latin typeface="Helvetica Neue"/>
                <a:ea typeface="Helvetica Neue"/>
                <a:cs typeface="Helvetica Neue"/>
              </a:rPr>
              <a:t>Pruebas y documentos</a:t>
            </a:r>
          </a:p>
        </p:txBody>
      </p:sp>
      <p:sp>
        <p:nvSpPr>
          <p:cNvPr id="26" name="">
            <a:extLst xmlns:a="http://schemas.openxmlformats.org/drawingml/2006/main">
              <a:ext uri="{FF2B5EF4-FFF2-40B4-BE49-F238E27FC236}">
                <a16:creationId xmlns:a16="http://schemas.microsoft.com/office/drawing/2014/main" id="{F9AE4663-3331-4645-BA19-1BB8810B5B03}"/>
              </a:ext>
            </a:extLst>
          </p:cNvPr>
          <p:cNvSpPr>
            <a:spLocks xmlns:a="http://schemas.openxmlformats.org/drawingml/2006/main" noGrp="1"/>
          </p:cNvSpPr>
          <p:nvPr/>
        </p:nvSpPr>
        <p:spPr>
          <a:xfrm xmlns:a="http://schemas.openxmlformats.org/drawingml/2006/main">
            <a:off x="8858250" y="4695825"/>
            <a:ext cx="2000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0588"/>
          </a:bodyPr>
          <a:lstStyle xmlns:a="http://schemas.openxmlformats.org/drawingml/2006/main"/>
          <a:p xmlns:a="http://schemas.openxmlformats.org/drawingml/2006/main">
            <a:pPr algn="ctr">
              <a:defRPr sz="1275" b="1">
                <a:solidFill>
                  <a:srgbClr val="42C7B9"/>
                </a:solidFill>
                <a:latin typeface="Helvetica Neue"/>
                <a:ea typeface="Helvetica Neue"/>
                <a:cs typeface="Helvetica Neue"/>
              </a:defRPr>
            </a:pPr>
            <a:r>
              <a:rPr sz="1275" b="1">
                <a:solidFill>
                  <a:srgbClr val="42C7B9"/>
                </a:solidFill>
                <a:latin typeface="Helvetica Neue"/>
                <a:ea typeface="Helvetica Neue"/>
                <a:cs typeface="Helvetica Neue"/>
              </a:rPr>
              <a:t>2 semanas</a:t>
            </a:r>
          </a:p>
        </p:txBody>
      </p:sp>
      <p:pic>
        <p:nvPicPr>
          <p:cNvPr id="56" name=""/>
          <p:cNvPicPr>
            <a:picLocks xmlns:a="http://schemas.openxmlformats.org/drawingml/2006/main" noChangeAspect="1"/>
          </p:cNvPicPr>
          <p:nvPr/>
        </p:nvPicPr>
        <p:blipFill>
          <a:blip xmlns:r="http://schemas.openxmlformats.org/officeDocument/2006/relationships" xmlns:a="http://schemas.openxmlformats.org/drawingml/2006/main" r:embed="Red8cff623045498e"/>
          <a:stretch xmlns:a="http://schemas.openxmlformats.org/drawingml/2006/main"/>
        </p:blipFill>
        <p:spPr>
          <a:xfrm xmlns:a="http://schemas.openxmlformats.org/drawingml/2006/main">
            <a:off x="1104900" y="5476875"/>
            <a:ext cx="495300" cy="495300"/>
          </a:xfrm>
          <a:prstGeom xmlns:a="http://schemas.openxmlformats.org/drawingml/2006/main" prst="roundRect">
            <a:avLst>
              <a:gd name="adj" fmla="val 15385"/>
            </a:avLst>
          </a:prstGeom>
        </p:spPr>
      </p:pic>
      <p:sp>
        <p:nvSpPr>
          <p:cNvPr id="28" name="">
            <a:extLst xmlns:a="http://schemas.openxmlformats.org/drawingml/2006/main">
              <a:ext uri="{FF2B5EF4-FFF2-40B4-BE49-F238E27FC236}">
                <a16:creationId xmlns:a16="http://schemas.microsoft.com/office/drawing/2014/main" id="{7D892B87-85FB-4267-99F6-0AEA3F6A28E8}"/>
              </a:ext>
            </a:extLst>
          </p:cNvPr>
          <p:cNvSpPr>
            <a:spLocks xmlns:a="http://schemas.openxmlformats.org/drawingml/2006/main" noGrp="1"/>
          </p:cNvSpPr>
          <p:nvPr/>
        </p:nvSpPr>
        <p:spPr>
          <a:xfrm xmlns:a="http://schemas.openxmlformats.org/drawingml/2006/main">
            <a:off x="1809750" y="5553075"/>
            <a:ext cx="6096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9474"/>
          </a:bodyPr>
          <a:lstStyle xmlns:a="http://schemas.openxmlformats.org/drawingml/2006/main"/>
          <a:p xmlns:a="http://schemas.openxmlformats.org/drawingml/2006/main">
            <a:pPr>
              <a:defRPr sz="1425" b="1">
                <a:solidFill>
                  <a:srgbClr val="7DD3A7"/>
                </a:solidFill>
                <a:latin typeface="Helvetica Neue"/>
                <a:ea typeface="Helvetica Neue"/>
                <a:cs typeface="Helvetica Neue"/>
              </a:defRPr>
            </a:pPr>
            <a:r>
              <a:rPr sz="1425" b="1">
                <a:solidFill>
                  <a:srgbClr val="7DD3A7"/>
                </a:solidFill>
                <a:latin typeface="Helvetica Neue"/>
                <a:ea typeface="Helvetica Neue"/>
                <a:cs typeface="Helvetica Neue"/>
              </a:rPr>
              <a:t>Seguimiento con Kanban y revisión al cierre de cada iteración.</a:t>
            </a:r>
          </a:p>
        </p:txBody>
      </p:sp>
      <p:sp>
        <p:nvSpPr>
          <p:cNvPr id="29" name="">
            <a:extLst xmlns:a="http://schemas.openxmlformats.org/drawingml/2006/main">
              <a:ext uri="{FF2B5EF4-FFF2-40B4-BE49-F238E27FC236}">
                <a16:creationId xmlns:a16="http://schemas.microsoft.com/office/drawing/2014/main" id="{7EA11A9E-7380-4C24-B988-98403F308F82}"/>
              </a:ext>
            </a:extLst>
          </p:cNvPr>
          <p:cNvSpPr>
            <a:spLocks xmlns:a="http://schemas.openxmlformats.org/drawingml/2006/main" noGrp="1"/>
          </p:cNvSpPr>
          <p:nvPr/>
        </p:nvSpPr>
        <p:spPr>
          <a:xfrm xmlns:a="http://schemas.openxmlformats.org/drawingml/2006/main">
            <a:off x="7677150" y="5505450"/>
            <a:ext cx="37528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000"/>
          </a:bodyPr>
          <a:lstStyle xmlns:a="http://schemas.openxmlformats.org/drawingml/2006/main"/>
          <a:p xmlns:a="http://schemas.openxmlformats.org/drawingml/2006/main">
            <a:pPr algn="r">
              <a:defRPr sz="1125">
                <a:solidFill>
                  <a:srgbClr val="AEB8C4"/>
                </a:solidFill>
                <a:latin typeface="Helvetica Neue"/>
                <a:ea typeface="Helvetica Neue"/>
                <a:cs typeface="Helvetica Neue"/>
              </a:defRPr>
            </a:pPr>
            <a:r>
              <a:rPr sz="1125">
                <a:solidFill>
                  <a:srgbClr val="AEB8C4"/>
                </a:solidFill>
                <a:latin typeface="Helvetica Neue"/>
                <a:ea typeface="Helvetica Neue"/>
                <a:cs typeface="Helvetica Neue"/>
              </a:rPr>
              <a:t>8 semanas de referencia. Fechas exactas por confirmar con el calendario del curso.</a:t>
            </a:r>
          </a:p>
        </p:txBody>
      </p:sp>
    </p:spTree>
    <p:extLst>
      <p:ext uri="{BB962C8B-B14F-4D97-AF65-F5344CB8AC3E}">
        <p14:creationId xmlns:p14="http://schemas.microsoft.com/office/powerpoint/2010/main" val="318877574"/>
      </p:ext>
    </p:extLst>
  </p:cSld>
</p:sld>
</file>

<file path=ppt/slides/slide8.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8310A3B-BC82-4033-AE5A-E1035431EE32}"/>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42C7B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218BF52-5030-4EA6-B758-D01268FF40CE}"/>
              </a:ext>
            </a:extLst>
          </p:cNvPr>
          <p:cNvSpPr>
            <a:spLocks xmlns:a="http://schemas.openxmlformats.org/drawingml/2006/main" noGrp="1"/>
          </p:cNvSpPr>
          <p:nvPr/>
        </p:nvSpPr>
        <p:spPr>
          <a:xfrm xmlns:a="http://schemas.openxmlformats.org/drawingml/2006/main">
            <a:off x="685800" y="37147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spc="1">
                <a:solidFill>
                  <a:srgbClr val="8FA8FF"/>
                </a:solidFill>
                <a:latin typeface="Helvetica Neue"/>
                <a:ea typeface="Helvetica Neue"/>
                <a:cs typeface="Helvetica Neue"/>
              </a:defRPr>
            </a:pPr>
            <a:r>
              <a:rPr sz="900" b="1" spc="1">
                <a:solidFill>
                  <a:srgbClr val="8FA8FF"/>
                </a:solidFill>
                <a:latin typeface="Helvetica Neue"/>
                <a:ea typeface="Helvetica Neue"/>
                <a:cs typeface="Helvetica Neue"/>
              </a:rPr>
              <a:t>MOCKUPS</a:t>
            </a:r>
          </a:p>
        </p:txBody>
      </p:sp>
      <p:sp>
        <p:nvSpPr>
          <p:cNvPr id="3" name="">
            <a:extLst xmlns:a="http://schemas.openxmlformats.org/drawingml/2006/main">
              <a:ext uri="{FF2B5EF4-FFF2-40B4-BE49-F238E27FC236}">
                <a16:creationId xmlns:a16="http://schemas.microsoft.com/office/drawing/2014/main" id="{D6D2AA2D-6DB5-4197-8241-DCED26E032D8}"/>
              </a:ext>
            </a:extLst>
          </p:cNvPr>
          <p:cNvSpPr>
            <a:spLocks xmlns:a="http://schemas.openxmlformats.org/drawingml/2006/main" noGrp="1"/>
          </p:cNvSpPr>
          <p:nvPr/>
        </p:nvSpPr>
        <p:spPr>
          <a:xfrm xmlns:a="http://schemas.openxmlformats.org/drawingml/2006/main">
            <a:off x="9906000" y="371475"/>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r">
              <a:defRPr sz="900" b="1">
                <a:solidFill>
                  <a:srgbClr val="AEB8C4"/>
                </a:solidFill>
                <a:latin typeface="Helvetica Neue"/>
                <a:ea typeface="Helvetica Neue"/>
                <a:cs typeface="Helvetica Neue"/>
              </a:defRPr>
            </a:pPr>
            <a:r>
              <a:rPr sz="900" b="1">
                <a:solidFill>
                  <a:srgbClr val="AEB8C4"/>
                </a:solidFill>
                <a:latin typeface="Helvetica Neue"/>
                <a:ea typeface="Helvetica Neue"/>
                <a:cs typeface="Helvetica Neue"/>
              </a:rPr>
              <a:t>Natanael</a:t>
            </a:r>
          </a:p>
        </p:txBody>
      </p:sp>
      <p:sp>
        <p:nvSpPr>
          <p:cNvPr id="4" name="">
            <a:extLst xmlns:a="http://schemas.openxmlformats.org/drawingml/2006/main">
              <a:ext uri="{FF2B5EF4-FFF2-40B4-BE49-F238E27FC236}">
                <a16:creationId xmlns:a16="http://schemas.microsoft.com/office/drawing/2014/main" id="{83220AA9-3D55-469B-84E5-A4DAD44D61B7}"/>
              </a:ext>
            </a:extLst>
          </p:cNvPr>
          <p:cNvSpPr>
            <a:spLocks xmlns:a="http://schemas.openxmlformats.org/drawingml/2006/main" noGrp="1"/>
          </p:cNvSpPr>
          <p:nvPr/>
        </p:nvSpPr>
        <p:spPr>
          <a:xfrm xmlns:a="http://schemas.openxmlformats.org/drawingml/2006/main">
            <a:off x="10906125" y="643890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lgn="r">
              <a:defRPr sz="825" b="1">
                <a:solidFill>
                  <a:srgbClr val="AEB8C4"/>
                </a:solidFill>
                <a:latin typeface="Helvetica Neue"/>
                <a:ea typeface="Helvetica Neue"/>
                <a:cs typeface="Helvetica Neue"/>
              </a:defRPr>
            </a:pPr>
            <a:r>
              <a:rPr sz="825" b="1">
                <a:solidFill>
                  <a:srgbClr val="AEB8C4"/>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0CDBC32F-9984-4B53-A1A5-1D0A69A1B019}"/>
              </a:ext>
            </a:extLst>
          </p:cNvPr>
          <p:cNvSpPr>
            <a:spLocks xmlns:a="http://schemas.openxmlformats.org/drawingml/2006/main" noGrp="1"/>
          </p:cNvSpPr>
          <p:nvPr/>
        </p:nvSpPr>
        <p:spPr>
          <a:xfrm xmlns:a="http://schemas.openxmlformats.org/drawingml/2006/main">
            <a:off x="685800" y="838200"/>
            <a:ext cx="866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982"/>
          </a:bodyPr>
          <a:lstStyle xmlns:a="http://schemas.openxmlformats.org/drawingml/2006/main"/>
          <a:p xmlns:a="http://schemas.openxmlformats.org/drawingml/2006/main">
            <a:pPr>
              <a:defRPr sz="2850" b="1">
                <a:solidFill>
                  <a:srgbClr val="F4F7FA"/>
                </a:solidFill>
                <a:latin typeface="Helvetica Neue"/>
                <a:ea typeface="Helvetica Neue"/>
                <a:cs typeface="Helvetica Neue"/>
              </a:defRPr>
            </a:pPr>
            <a:r>
              <a:rPr sz="2850" b="1">
                <a:solidFill>
                  <a:srgbClr val="F4F7FA"/>
                </a:solidFill>
                <a:latin typeface="Helvetica Neue"/>
                <a:ea typeface="Helvetica Neue"/>
                <a:cs typeface="Helvetica Neue"/>
              </a:rPr>
              <a:t>Mockups 1 de 2: acceso y trabajo del abogado</a:t>
            </a:r>
          </a:p>
        </p:txBody>
      </p:sp>
      <p:sp>
        <p:nvSpPr>
          <p:cNvPr id="6" name="">
            <a:extLst xmlns:a="http://schemas.openxmlformats.org/drawingml/2006/main">
              <a:ext uri="{FF2B5EF4-FFF2-40B4-BE49-F238E27FC236}">
                <a16:creationId xmlns:a16="http://schemas.microsoft.com/office/drawing/2014/main" id="{32BF6B70-B711-4A99-BD16-9BC5B7193473}"/>
              </a:ext>
            </a:extLst>
          </p:cNvPr>
          <p:cNvSpPr>
            <a:spLocks xmlns:a="http://schemas.openxmlformats.org/drawingml/2006/main" noGrp="1"/>
          </p:cNvSpPr>
          <p:nvPr/>
        </p:nvSpPr>
        <p:spPr>
          <a:xfrm xmlns:a="http://schemas.openxmlformats.org/drawingml/2006/main">
            <a:off x="685800" y="1485900"/>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a:solidFill>
                  <a:srgbClr val="AEB8C4"/>
                </a:solidFill>
                <a:latin typeface="Helvetica Neue"/>
                <a:ea typeface="Helvetica Neue"/>
                <a:cs typeface="Helvetica Neue"/>
              </a:defRPr>
            </a:pPr>
            <a:r>
              <a:rPr sz="1500">
                <a:solidFill>
                  <a:srgbClr val="AEB8C4"/>
                </a:solidFill>
                <a:latin typeface="Helvetica Neue"/>
                <a:ea typeface="Helvetica Neue"/>
                <a:cs typeface="Helvetica Neue"/>
              </a:rPr>
              <a:t>Las primeras siete pantallas cubren el ingreso y la gestión diaria de una causa.</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a64176fe69454c2e"/>
          <a:stretch xmlns:a="http://schemas.openxmlformats.org/drawingml/2006/main"/>
        </p:blipFill>
        <p:spPr>
          <a:xfrm xmlns:a="http://schemas.openxmlformats.org/drawingml/2006/main">
            <a:off x="1019175" y="2076450"/>
            <a:ext cx="1733550" cy="1733550"/>
          </a:xfrm>
          <a:prstGeom xmlns:a="http://schemas.openxmlformats.org/drawingml/2006/main" prst="roundRect">
            <a:avLst>
              <a:gd name="adj" fmla="val 4396"/>
            </a:avLst>
          </a:prstGeom>
        </p:spPr>
      </p:pic>
      <p:sp>
        <p:nvSpPr>
          <p:cNvPr id="8" name="">
            <a:extLst xmlns:a="http://schemas.openxmlformats.org/drawingml/2006/main">
              <a:ext uri="{FF2B5EF4-FFF2-40B4-BE49-F238E27FC236}">
                <a16:creationId xmlns:a16="http://schemas.microsoft.com/office/drawing/2014/main" id="{5033F922-232A-4E6A-951F-46A85CE6310A}"/>
              </a:ext>
            </a:extLst>
          </p:cNvPr>
          <p:cNvSpPr>
            <a:spLocks xmlns:a="http://schemas.openxmlformats.org/drawingml/2006/main" noGrp="1"/>
          </p:cNvSpPr>
          <p:nvPr/>
        </p:nvSpPr>
        <p:spPr>
          <a:xfrm xmlns:a="http://schemas.openxmlformats.org/drawingml/2006/main">
            <a:off x="685800" y="3876675"/>
            <a:ext cx="2400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ctr">
              <a:defRPr sz="900" b="1">
                <a:solidFill>
                  <a:srgbClr val="42C7B9"/>
                </a:solidFill>
                <a:latin typeface="Helvetica Neue"/>
                <a:ea typeface="Helvetica Neue"/>
                <a:cs typeface="Helvetica Neue"/>
              </a:defRPr>
            </a:pPr>
            <a:r>
              <a:rPr sz="900" b="1">
                <a:solidFill>
                  <a:srgbClr val="42C7B9"/>
                </a:solidFill>
                <a:latin typeface="Helvetica Neue"/>
                <a:ea typeface="Helvetica Neue"/>
                <a:cs typeface="Helvetica Neue"/>
              </a:rPr>
              <a:t>01  Acceso</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6ce43272bfef4174"/>
          <a:stretch xmlns:a="http://schemas.openxmlformats.org/drawingml/2006/main"/>
        </p:blipFill>
        <p:spPr>
          <a:xfrm xmlns:a="http://schemas.openxmlformats.org/drawingml/2006/main">
            <a:off x="3743325" y="2076450"/>
            <a:ext cx="1733550" cy="1733550"/>
          </a:xfrm>
          <a:prstGeom xmlns:a="http://schemas.openxmlformats.org/drawingml/2006/main" prst="roundRect">
            <a:avLst>
              <a:gd name="adj" fmla="val 4396"/>
            </a:avLst>
          </a:prstGeom>
        </p:spPr>
      </p:pic>
      <p:sp>
        <p:nvSpPr>
          <p:cNvPr id="10" name="">
            <a:extLst xmlns:a="http://schemas.openxmlformats.org/drawingml/2006/main">
              <a:ext uri="{FF2B5EF4-FFF2-40B4-BE49-F238E27FC236}">
                <a16:creationId xmlns:a16="http://schemas.microsoft.com/office/drawing/2014/main" id="{AD739182-61A5-4FD4-A178-1F1FCEEE55D3}"/>
              </a:ext>
            </a:extLst>
          </p:cNvPr>
          <p:cNvSpPr>
            <a:spLocks xmlns:a="http://schemas.openxmlformats.org/drawingml/2006/main" noGrp="1"/>
          </p:cNvSpPr>
          <p:nvPr/>
        </p:nvSpPr>
        <p:spPr>
          <a:xfrm xmlns:a="http://schemas.openxmlformats.org/drawingml/2006/main">
            <a:off x="3409950" y="3876675"/>
            <a:ext cx="2400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ctr">
              <a:defRPr sz="900" b="1">
                <a:solidFill>
                  <a:srgbClr val="42C7B9"/>
                </a:solidFill>
                <a:latin typeface="Helvetica Neue"/>
                <a:ea typeface="Helvetica Neue"/>
                <a:cs typeface="Helvetica Neue"/>
              </a:defRPr>
            </a:pPr>
            <a:r>
              <a:rPr sz="900" b="1">
                <a:solidFill>
                  <a:srgbClr val="42C7B9"/>
                </a:solidFill>
                <a:latin typeface="Helvetica Neue"/>
                <a:ea typeface="Helvetica Neue"/>
                <a:cs typeface="Helvetica Neue"/>
              </a:rPr>
              <a:t>02  Cambio de contraseña</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d0c7227aca64416d"/>
          <a:stretch xmlns:a="http://schemas.openxmlformats.org/drawingml/2006/main"/>
        </p:blipFill>
        <p:spPr>
          <a:xfrm xmlns:a="http://schemas.openxmlformats.org/drawingml/2006/main">
            <a:off x="6467475" y="2076450"/>
            <a:ext cx="1733550" cy="1733550"/>
          </a:xfrm>
          <a:prstGeom xmlns:a="http://schemas.openxmlformats.org/drawingml/2006/main" prst="roundRect">
            <a:avLst>
              <a:gd name="adj" fmla="val 4396"/>
            </a:avLst>
          </a:prstGeom>
        </p:spPr>
      </p:pic>
      <p:sp>
        <p:nvSpPr>
          <p:cNvPr id="12" name="">
            <a:extLst xmlns:a="http://schemas.openxmlformats.org/drawingml/2006/main">
              <a:ext uri="{FF2B5EF4-FFF2-40B4-BE49-F238E27FC236}">
                <a16:creationId xmlns:a16="http://schemas.microsoft.com/office/drawing/2014/main" id="{9EC18184-7F36-4A7E-90B5-51DBE1341E67}"/>
              </a:ext>
            </a:extLst>
          </p:cNvPr>
          <p:cNvSpPr>
            <a:spLocks xmlns:a="http://schemas.openxmlformats.org/drawingml/2006/main" noGrp="1"/>
          </p:cNvSpPr>
          <p:nvPr/>
        </p:nvSpPr>
        <p:spPr>
          <a:xfrm xmlns:a="http://schemas.openxmlformats.org/drawingml/2006/main">
            <a:off x="6134100" y="3876675"/>
            <a:ext cx="2400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ctr">
              <a:defRPr sz="900" b="1">
                <a:solidFill>
                  <a:srgbClr val="42C7B9"/>
                </a:solidFill>
                <a:latin typeface="Helvetica Neue"/>
                <a:ea typeface="Helvetica Neue"/>
                <a:cs typeface="Helvetica Neue"/>
              </a:defRPr>
            </a:pPr>
            <a:r>
              <a:rPr sz="900" b="1">
                <a:solidFill>
                  <a:srgbClr val="42C7B9"/>
                </a:solidFill>
                <a:latin typeface="Helvetica Neue"/>
                <a:ea typeface="Helvetica Neue"/>
                <a:cs typeface="Helvetica Neue"/>
              </a:rPr>
              <a:t>03  Recuperación</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52790ca25a9340e3"/>
          <a:stretch xmlns:a="http://schemas.openxmlformats.org/drawingml/2006/main"/>
        </p:blipFill>
        <p:spPr>
          <a:xfrm xmlns:a="http://schemas.openxmlformats.org/drawingml/2006/main">
            <a:off x="9191625" y="2076450"/>
            <a:ext cx="1733550" cy="1733550"/>
          </a:xfrm>
          <a:prstGeom xmlns:a="http://schemas.openxmlformats.org/drawingml/2006/main" prst="roundRect">
            <a:avLst>
              <a:gd name="adj" fmla="val 4396"/>
            </a:avLst>
          </a:prstGeom>
        </p:spPr>
      </p:pic>
      <p:sp>
        <p:nvSpPr>
          <p:cNvPr id="14" name="">
            <a:extLst xmlns:a="http://schemas.openxmlformats.org/drawingml/2006/main">
              <a:ext uri="{FF2B5EF4-FFF2-40B4-BE49-F238E27FC236}">
                <a16:creationId xmlns:a16="http://schemas.microsoft.com/office/drawing/2014/main" id="{E9C76D1B-BA8F-4D50-9F6C-4A7FDBB6B2E4}"/>
              </a:ext>
            </a:extLst>
          </p:cNvPr>
          <p:cNvSpPr>
            <a:spLocks xmlns:a="http://schemas.openxmlformats.org/drawingml/2006/main" noGrp="1"/>
          </p:cNvSpPr>
          <p:nvPr/>
        </p:nvSpPr>
        <p:spPr>
          <a:xfrm xmlns:a="http://schemas.openxmlformats.org/drawingml/2006/main">
            <a:off x="8858250" y="3876675"/>
            <a:ext cx="2400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ctr">
              <a:defRPr sz="900" b="1">
                <a:solidFill>
                  <a:srgbClr val="42C7B9"/>
                </a:solidFill>
                <a:latin typeface="Helvetica Neue"/>
                <a:ea typeface="Helvetica Neue"/>
                <a:cs typeface="Helvetica Neue"/>
              </a:defRPr>
            </a:pPr>
            <a:r>
              <a:rPr sz="900" b="1">
                <a:solidFill>
                  <a:srgbClr val="42C7B9"/>
                </a:solidFill>
                <a:latin typeface="Helvetica Neue"/>
                <a:ea typeface="Helvetica Neue"/>
                <a:cs typeface="Helvetica Neue"/>
              </a:rPr>
              <a:t>04  Perfil</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9b3a266d49a64067"/>
          <a:stretch xmlns:a="http://schemas.openxmlformats.org/drawingml/2006/main"/>
        </p:blipFill>
        <p:spPr>
          <a:xfrm xmlns:a="http://schemas.openxmlformats.org/drawingml/2006/main">
            <a:off x="1019175" y="4210050"/>
            <a:ext cx="1733550" cy="1733550"/>
          </a:xfrm>
          <a:prstGeom xmlns:a="http://schemas.openxmlformats.org/drawingml/2006/main" prst="roundRect">
            <a:avLst>
              <a:gd name="adj" fmla="val 4396"/>
            </a:avLst>
          </a:prstGeom>
        </p:spPr>
      </p:pic>
      <p:sp>
        <p:nvSpPr>
          <p:cNvPr id="16" name="">
            <a:extLst xmlns:a="http://schemas.openxmlformats.org/drawingml/2006/main">
              <a:ext uri="{FF2B5EF4-FFF2-40B4-BE49-F238E27FC236}">
                <a16:creationId xmlns:a16="http://schemas.microsoft.com/office/drawing/2014/main" id="{76C56D23-D785-46D6-807E-095B7F31E578}"/>
              </a:ext>
            </a:extLst>
          </p:cNvPr>
          <p:cNvSpPr>
            <a:spLocks xmlns:a="http://schemas.openxmlformats.org/drawingml/2006/main" noGrp="1"/>
          </p:cNvSpPr>
          <p:nvPr/>
        </p:nvSpPr>
        <p:spPr>
          <a:xfrm xmlns:a="http://schemas.openxmlformats.org/drawingml/2006/main">
            <a:off x="685800" y="6010275"/>
            <a:ext cx="2400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ctr">
              <a:defRPr sz="900" b="1">
                <a:solidFill>
                  <a:srgbClr val="42C7B9"/>
                </a:solidFill>
                <a:latin typeface="Helvetica Neue"/>
                <a:ea typeface="Helvetica Neue"/>
                <a:cs typeface="Helvetica Neue"/>
              </a:defRPr>
            </a:pPr>
            <a:r>
              <a:rPr sz="900" b="1">
                <a:solidFill>
                  <a:srgbClr val="42C7B9"/>
                </a:solidFill>
                <a:latin typeface="Helvetica Neue"/>
                <a:ea typeface="Helvetica Neue"/>
                <a:cs typeface="Helvetica Neue"/>
              </a:rPr>
              <a:t>05  Panel de causas</a:t>
            </a:r>
          </a:p>
        </p:txBody>
      </p:sp>
      <p:pic>
        <p:nvPicPr>
          <p:cNvPr id="37" name=""/>
          <p:cNvPicPr>
            <a:picLocks xmlns:a="http://schemas.openxmlformats.org/drawingml/2006/main" noChangeAspect="1"/>
          </p:cNvPicPr>
          <p:nvPr/>
        </p:nvPicPr>
        <p:blipFill>
          <a:blip xmlns:r="http://schemas.openxmlformats.org/officeDocument/2006/relationships" xmlns:a="http://schemas.openxmlformats.org/drawingml/2006/main" r:embed="R21d27e74a5e74235"/>
          <a:stretch xmlns:a="http://schemas.openxmlformats.org/drawingml/2006/main"/>
        </p:blipFill>
        <p:spPr>
          <a:xfrm xmlns:a="http://schemas.openxmlformats.org/drawingml/2006/main">
            <a:off x="3743325" y="4210050"/>
            <a:ext cx="1733550" cy="1733550"/>
          </a:xfrm>
          <a:prstGeom xmlns:a="http://schemas.openxmlformats.org/drawingml/2006/main" prst="roundRect">
            <a:avLst>
              <a:gd name="adj" fmla="val 4396"/>
            </a:avLst>
          </a:prstGeom>
        </p:spPr>
      </p:pic>
      <p:sp>
        <p:nvSpPr>
          <p:cNvPr id="18" name="">
            <a:extLst xmlns:a="http://schemas.openxmlformats.org/drawingml/2006/main">
              <a:ext uri="{FF2B5EF4-FFF2-40B4-BE49-F238E27FC236}">
                <a16:creationId xmlns:a16="http://schemas.microsoft.com/office/drawing/2014/main" id="{25C4C0AB-29DE-47CC-A6EC-11D53333B900}"/>
              </a:ext>
            </a:extLst>
          </p:cNvPr>
          <p:cNvSpPr>
            <a:spLocks xmlns:a="http://schemas.openxmlformats.org/drawingml/2006/main" noGrp="1"/>
          </p:cNvSpPr>
          <p:nvPr/>
        </p:nvSpPr>
        <p:spPr>
          <a:xfrm xmlns:a="http://schemas.openxmlformats.org/drawingml/2006/main">
            <a:off x="3409950" y="6010275"/>
            <a:ext cx="2400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ctr">
              <a:defRPr sz="900" b="1">
                <a:solidFill>
                  <a:srgbClr val="42C7B9"/>
                </a:solidFill>
                <a:latin typeface="Helvetica Neue"/>
                <a:ea typeface="Helvetica Neue"/>
                <a:cs typeface="Helvetica Neue"/>
              </a:defRPr>
            </a:pPr>
            <a:r>
              <a:rPr sz="900" b="1">
                <a:solidFill>
                  <a:srgbClr val="42C7B9"/>
                </a:solidFill>
                <a:latin typeface="Helvetica Neue"/>
                <a:ea typeface="Helvetica Neue"/>
                <a:cs typeface="Helvetica Neue"/>
              </a:rPr>
              <a:t>06  Registro de causa</a:t>
            </a:r>
          </a:p>
        </p:txBody>
      </p:sp>
      <p:pic>
        <p:nvPicPr>
          <p:cNvPr id="39" name=""/>
          <p:cNvPicPr>
            <a:picLocks xmlns:a="http://schemas.openxmlformats.org/drawingml/2006/main" noChangeAspect="1"/>
          </p:cNvPicPr>
          <p:nvPr/>
        </p:nvPicPr>
        <p:blipFill>
          <a:blip xmlns:r="http://schemas.openxmlformats.org/officeDocument/2006/relationships" xmlns:a="http://schemas.openxmlformats.org/drawingml/2006/main" r:embed="R5c88c0a48d7e40a9"/>
          <a:stretch xmlns:a="http://schemas.openxmlformats.org/drawingml/2006/main"/>
        </p:blipFill>
        <p:spPr>
          <a:xfrm xmlns:a="http://schemas.openxmlformats.org/drawingml/2006/main">
            <a:off x="6467475" y="4210050"/>
            <a:ext cx="1733550" cy="1733550"/>
          </a:xfrm>
          <a:prstGeom xmlns:a="http://schemas.openxmlformats.org/drawingml/2006/main" prst="roundRect">
            <a:avLst>
              <a:gd name="adj" fmla="val 4396"/>
            </a:avLst>
          </a:prstGeom>
        </p:spPr>
      </p:pic>
      <p:sp>
        <p:nvSpPr>
          <p:cNvPr id="20" name="">
            <a:extLst xmlns:a="http://schemas.openxmlformats.org/drawingml/2006/main">
              <a:ext uri="{FF2B5EF4-FFF2-40B4-BE49-F238E27FC236}">
                <a16:creationId xmlns:a16="http://schemas.microsoft.com/office/drawing/2014/main" id="{02AA51EA-EBD1-49C6-934A-A2D0FD17D6F9}"/>
              </a:ext>
            </a:extLst>
          </p:cNvPr>
          <p:cNvSpPr>
            <a:spLocks xmlns:a="http://schemas.openxmlformats.org/drawingml/2006/main" noGrp="1"/>
          </p:cNvSpPr>
          <p:nvPr/>
        </p:nvSpPr>
        <p:spPr>
          <a:xfrm xmlns:a="http://schemas.openxmlformats.org/drawingml/2006/main">
            <a:off x="6134100" y="6010275"/>
            <a:ext cx="24003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ctr">
              <a:defRPr sz="900" b="1">
                <a:solidFill>
                  <a:srgbClr val="42C7B9"/>
                </a:solidFill>
                <a:latin typeface="Helvetica Neue"/>
                <a:ea typeface="Helvetica Neue"/>
                <a:cs typeface="Helvetica Neue"/>
              </a:defRPr>
            </a:pPr>
            <a:r>
              <a:rPr sz="900" b="1">
                <a:solidFill>
                  <a:srgbClr val="42C7B9"/>
                </a:solidFill>
                <a:latin typeface="Helvetica Neue"/>
                <a:ea typeface="Helvetica Neue"/>
                <a:cs typeface="Helvetica Neue"/>
              </a:rPr>
              <a:t>07  Detalle para abogado</a:t>
            </a:r>
          </a:p>
        </p:txBody>
      </p:sp>
    </p:spTree>
    <p:extLst>
      <p:ext uri="{BB962C8B-B14F-4D97-AF65-F5344CB8AC3E}">
        <p14:creationId xmlns:p14="http://schemas.microsoft.com/office/powerpoint/2010/main" val="1561426757"/>
      </p:ext>
    </p:extLst>
  </p:cSld>
</p:sld>
</file>

<file path=ppt/slides/slide9.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C5FE14DD-2C8A-4E81-BF07-4B66BDAE9157}"/>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42C7B9"/>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CE4D50DB-26E6-4B29-8521-0D72C6041540}"/>
              </a:ext>
            </a:extLst>
          </p:cNvPr>
          <p:cNvSpPr>
            <a:spLocks xmlns:a="http://schemas.openxmlformats.org/drawingml/2006/main" noGrp="1"/>
          </p:cNvSpPr>
          <p:nvPr/>
        </p:nvSpPr>
        <p:spPr>
          <a:xfrm xmlns:a="http://schemas.openxmlformats.org/drawingml/2006/main">
            <a:off x="685800" y="37147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spc="1">
                <a:solidFill>
                  <a:srgbClr val="8FA8FF"/>
                </a:solidFill>
                <a:latin typeface="Helvetica Neue"/>
                <a:ea typeface="Helvetica Neue"/>
                <a:cs typeface="Helvetica Neue"/>
              </a:defRPr>
            </a:pPr>
            <a:r>
              <a:rPr sz="900" b="1" spc="1">
                <a:solidFill>
                  <a:srgbClr val="8FA8FF"/>
                </a:solidFill>
                <a:latin typeface="Helvetica Neue"/>
                <a:ea typeface="Helvetica Neue"/>
                <a:cs typeface="Helvetica Neue"/>
              </a:rPr>
              <a:t>MOCKUPS</a:t>
            </a:r>
          </a:p>
        </p:txBody>
      </p:sp>
      <p:sp>
        <p:nvSpPr>
          <p:cNvPr id="3" name="">
            <a:extLst xmlns:a="http://schemas.openxmlformats.org/drawingml/2006/main">
              <a:ext uri="{FF2B5EF4-FFF2-40B4-BE49-F238E27FC236}">
                <a16:creationId xmlns:a16="http://schemas.microsoft.com/office/drawing/2014/main" id="{8334D4FD-0272-408C-884F-2619D751F333}"/>
              </a:ext>
            </a:extLst>
          </p:cNvPr>
          <p:cNvSpPr>
            <a:spLocks xmlns:a="http://schemas.openxmlformats.org/drawingml/2006/main" noGrp="1"/>
          </p:cNvSpPr>
          <p:nvPr/>
        </p:nvSpPr>
        <p:spPr>
          <a:xfrm xmlns:a="http://schemas.openxmlformats.org/drawingml/2006/main">
            <a:off x="9906000" y="371475"/>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r">
              <a:defRPr sz="900" b="1">
                <a:solidFill>
                  <a:srgbClr val="AEB8C4"/>
                </a:solidFill>
                <a:latin typeface="Helvetica Neue"/>
                <a:ea typeface="Helvetica Neue"/>
                <a:cs typeface="Helvetica Neue"/>
              </a:defRPr>
            </a:pPr>
            <a:r>
              <a:rPr sz="900" b="1">
                <a:solidFill>
                  <a:srgbClr val="AEB8C4"/>
                </a:solidFill>
                <a:latin typeface="Helvetica Neue"/>
                <a:ea typeface="Helvetica Neue"/>
                <a:cs typeface="Helvetica Neue"/>
              </a:rPr>
              <a:t>Natanael</a:t>
            </a:r>
          </a:p>
        </p:txBody>
      </p:sp>
      <p:sp>
        <p:nvSpPr>
          <p:cNvPr id="4" name="">
            <a:extLst xmlns:a="http://schemas.openxmlformats.org/drawingml/2006/main">
              <a:ext uri="{FF2B5EF4-FFF2-40B4-BE49-F238E27FC236}">
                <a16:creationId xmlns:a16="http://schemas.microsoft.com/office/drawing/2014/main" id="{142014E4-5294-42CB-B862-FAD15339D5DC}"/>
              </a:ext>
            </a:extLst>
          </p:cNvPr>
          <p:cNvSpPr>
            <a:spLocks xmlns:a="http://schemas.openxmlformats.org/drawingml/2006/main" noGrp="1"/>
          </p:cNvSpPr>
          <p:nvPr/>
        </p:nvSpPr>
        <p:spPr>
          <a:xfrm xmlns:a="http://schemas.openxmlformats.org/drawingml/2006/main">
            <a:off x="10906125" y="643890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lgn="r">
              <a:defRPr sz="825" b="1">
                <a:solidFill>
                  <a:srgbClr val="AEB8C4"/>
                </a:solidFill>
                <a:latin typeface="Helvetica Neue"/>
                <a:ea typeface="Helvetica Neue"/>
                <a:cs typeface="Helvetica Neue"/>
              </a:defRPr>
            </a:pPr>
            <a:r>
              <a:rPr sz="825" b="1">
                <a:solidFill>
                  <a:srgbClr val="AEB8C4"/>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AFA112C0-1738-4E44-977C-F449302AC9C6}"/>
              </a:ext>
            </a:extLst>
          </p:cNvPr>
          <p:cNvSpPr>
            <a:spLocks xmlns:a="http://schemas.openxmlformats.org/drawingml/2006/main" noGrp="1"/>
          </p:cNvSpPr>
          <p:nvPr/>
        </p:nvSpPr>
        <p:spPr>
          <a:xfrm xmlns:a="http://schemas.openxmlformats.org/drawingml/2006/main">
            <a:off x="685800" y="838200"/>
            <a:ext cx="8667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2982"/>
          </a:bodyPr>
          <a:lstStyle xmlns:a="http://schemas.openxmlformats.org/drawingml/2006/main"/>
          <a:p xmlns:a="http://schemas.openxmlformats.org/drawingml/2006/main">
            <a:pPr>
              <a:defRPr sz="2850" b="1">
                <a:solidFill>
                  <a:srgbClr val="F4F7FA"/>
                </a:solidFill>
                <a:latin typeface="Helvetica Neue"/>
                <a:ea typeface="Helvetica Neue"/>
                <a:cs typeface="Helvetica Neue"/>
              </a:defRPr>
            </a:pPr>
            <a:r>
              <a:rPr sz="2850" b="1">
                <a:solidFill>
                  <a:srgbClr val="F4F7FA"/>
                </a:solidFill>
                <a:latin typeface="Helvetica Neue"/>
                <a:ea typeface="Helvetica Neue"/>
                <a:cs typeface="Helvetica Neue"/>
              </a:rPr>
              <a:t>Mockups 2 de 2: operaciones y vista cliente</a:t>
            </a:r>
          </a:p>
        </p:txBody>
      </p:sp>
      <p:sp>
        <p:nvSpPr>
          <p:cNvPr id="6" name="">
            <a:extLst xmlns:a="http://schemas.openxmlformats.org/drawingml/2006/main">
              <a:ext uri="{FF2B5EF4-FFF2-40B4-BE49-F238E27FC236}">
                <a16:creationId xmlns:a16="http://schemas.microsoft.com/office/drawing/2014/main" id="{D6FB3088-125B-419E-8432-4940B9F71BA8}"/>
              </a:ext>
            </a:extLst>
          </p:cNvPr>
          <p:cNvSpPr>
            <a:spLocks xmlns:a="http://schemas.openxmlformats.org/drawingml/2006/main" noGrp="1"/>
          </p:cNvSpPr>
          <p:nvPr/>
        </p:nvSpPr>
        <p:spPr>
          <a:xfrm xmlns:a="http://schemas.openxmlformats.org/drawingml/2006/main">
            <a:off x="685800" y="1485900"/>
            <a:ext cx="9144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5000"/>
          </a:bodyPr>
          <a:lstStyle xmlns:a="http://schemas.openxmlformats.org/drawingml/2006/main"/>
          <a:p xmlns:a="http://schemas.openxmlformats.org/drawingml/2006/main">
            <a:pPr>
              <a:defRPr sz="1500">
                <a:solidFill>
                  <a:srgbClr val="AEB8C4"/>
                </a:solidFill>
                <a:latin typeface="Helvetica Neue"/>
                <a:ea typeface="Helvetica Neue"/>
                <a:cs typeface="Helvetica Neue"/>
              </a:defRPr>
            </a:pPr>
            <a:r>
              <a:rPr sz="1500">
                <a:solidFill>
                  <a:srgbClr val="AEB8C4"/>
                </a:solidFill>
                <a:latin typeface="Helvetica Neue"/>
                <a:ea typeface="Helvetica Neue"/>
                <a:cs typeface="Helvetica Neue"/>
              </a:rPr>
              <a:t>Las seis pantallas restantes muestran validación operativa y la información disponible para el cliente.</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b123f8a2228b422a"/>
          <a:stretch xmlns:a="http://schemas.openxmlformats.org/drawingml/2006/main"/>
        </p:blipFill>
        <p:spPr>
          <a:xfrm xmlns:a="http://schemas.openxmlformats.org/drawingml/2006/main">
            <a:off x="1409700" y="2076450"/>
            <a:ext cx="1733550" cy="1733550"/>
          </a:xfrm>
          <a:prstGeom xmlns:a="http://schemas.openxmlformats.org/drawingml/2006/main" prst="roundRect">
            <a:avLst>
              <a:gd name="adj" fmla="val 4396"/>
            </a:avLst>
          </a:prstGeom>
        </p:spPr>
      </p:pic>
      <p:sp>
        <p:nvSpPr>
          <p:cNvPr id="8" name="">
            <a:extLst xmlns:a="http://schemas.openxmlformats.org/drawingml/2006/main">
              <a:ext uri="{FF2B5EF4-FFF2-40B4-BE49-F238E27FC236}">
                <a16:creationId xmlns:a16="http://schemas.microsoft.com/office/drawing/2014/main" id="{E40062B6-F3A8-45C8-B6A1-FD597328542C}"/>
              </a:ext>
            </a:extLst>
          </p:cNvPr>
          <p:cNvSpPr>
            <a:spLocks xmlns:a="http://schemas.openxmlformats.org/drawingml/2006/main" noGrp="1"/>
          </p:cNvSpPr>
          <p:nvPr/>
        </p:nvSpPr>
        <p:spPr>
          <a:xfrm xmlns:a="http://schemas.openxmlformats.org/drawingml/2006/main">
            <a:off x="685800" y="3876675"/>
            <a:ext cx="3181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ctr">
              <a:defRPr sz="900" b="1">
                <a:solidFill>
                  <a:srgbClr val="42C7B9"/>
                </a:solidFill>
                <a:latin typeface="Helvetica Neue"/>
                <a:ea typeface="Helvetica Neue"/>
                <a:cs typeface="Helvetica Neue"/>
              </a:defRPr>
            </a:pPr>
            <a:r>
              <a:rPr sz="900" b="1">
                <a:solidFill>
                  <a:srgbClr val="42C7B9"/>
                </a:solidFill>
                <a:latin typeface="Helvetica Neue"/>
                <a:ea typeface="Helvetica Neue"/>
                <a:cs typeface="Helvetica Neue"/>
              </a:rPr>
              <a:t>08  Importar Excel</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e39fc677140440ed"/>
          <a:stretch xmlns:a="http://schemas.openxmlformats.org/drawingml/2006/main"/>
        </p:blipFill>
        <p:spPr>
          <a:xfrm xmlns:a="http://schemas.openxmlformats.org/drawingml/2006/main">
            <a:off x="4914900" y="2076450"/>
            <a:ext cx="1733550" cy="1733550"/>
          </a:xfrm>
          <a:prstGeom xmlns:a="http://schemas.openxmlformats.org/drawingml/2006/main" prst="roundRect">
            <a:avLst>
              <a:gd name="adj" fmla="val 4396"/>
            </a:avLst>
          </a:prstGeom>
        </p:spPr>
      </p:pic>
      <p:sp>
        <p:nvSpPr>
          <p:cNvPr id="10" name="">
            <a:extLst xmlns:a="http://schemas.openxmlformats.org/drawingml/2006/main">
              <a:ext uri="{FF2B5EF4-FFF2-40B4-BE49-F238E27FC236}">
                <a16:creationId xmlns:a16="http://schemas.microsoft.com/office/drawing/2014/main" id="{F501EAE0-52B6-4507-9ACF-0F9460402F54}"/>
              </a:ext>
            </a:extLst>
          </p:cNvPr>
          <p:cNvSpPr>
            <a:spLocks xmlns:a="http://schemas.openxmlformats.org/drawingml/2006/main" noGrp="1"/>
          </p:cNvSpPr>
          <p:nvPr/>
        </p:nvSpPr>
        <p:spPr>
          <a:xfrm xmlns:a="http://schemas.openxmlformats.org/drawingml/2006/main">
            <a:off x="4191000" y="3876675"/>
            <a:ext cx="3181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ctr">
              <a:defRPr sz="900" b="1">
                <a:solidFill>
                  <a:srgbClr val="42C7B9"/>
                </a:solidFill>
                <a:latin typeface="Helvetica Neue"/>
                <a:ea typeface="Helvetica Neue"/>
                <a:cs typeface="Helvetica Neue"/>
              </a:defRPr>
            </a:pPr>
            <a:r>
              <a:rPr sz="900" b="1">
                <a:solidFill>
                  <a:srgbClr val="42C7B9"/>
                </a:solidFill>
                <a:latin typeface="Helvetica Neue"/>
                <a:ea typeface="Helvetica Neue"/>
                <a:cs typeface="Helvetica Neue"/>
              </a:rPr>
              <a:t>09  Pendientes</a:t>
            </a:r>
          </a:p>
        </p:txBody>
      </p:sp>
      <p:pic>
        <p:nvPicPr>
          <p:cNvPr id="29" name=""/>
          <p:cNvPicPr>
            <a:picLocks xmlns:a="http://schemas.openxmlformats.org/drawingml/2006/main" noChangeAspect="1"/>
          </p:cNvPicPr>
          <p:nvPr/>
        </p:nvPicPr>
        <p:blipFill>
          <a:blip xmlns:r="http://schemas.openxmlformats.org/officeDocument/2006/relationships" xmlns:a="http://schemas.openxmlformats.org/drawingml/2006/main" r:embed="Rcd6e5fa00b9d4f85"/>
          <a:stretch xmlns:a="http://schemas.openxmlformats.org/drawingml/2006/main"/>
        </p:blipFill>
        <p:spPr>
          <a:xfrm xmlns:a="http://schemas.openxmlformats.org/drawingml/2006/main">
            <a:off x="8420100" y="2076450"/>
            <a:ext cx="1733550" cy="1733550"/>
          </a:xfrm>
          <a:prstGeom xmlns:a="http://schemas.openxmlformats.org/drawingml/2006/main" prst="roundRect">
            <a:avLst>
              <a:gd name="adj" fmla="val 4396"/>
            </a:avLst>
          </a:prstGeom>
        </p:spPr>
      </p:pic>
      <p:sp>
        <p:nvSpPr>
          <p:cNvPr id="12" name="">
            <a:extLst xmlns:a="http://schemas.openxmlformats.org/drawingml/2006/main">
              <a:ext uri="{FF2B5EF4-FFF2-40B4-BE49-F238E27FC236}">
                <a16:creationId xmlns:a16="http://schemas.microsoft.com/office/drawing/2014/main" id="{414495D6-E598-4CE2-BA39-A140EAD2E732}"/>
              </a:ext>
            </a:extLst>
          </p:cNvPr>
          <p:cNvSpPr>
            <a:spLocks xmlns:a="http://schemas.openxmlformats.org/drawingml/2006/main" noGrp="1"/>
          </p:cNvSpPr>
          <p:nvPr/>
        </p:nvSpPr>
        <p:spPr>
          <a:xfrm xmlns:a="http://schemas.openxmlformats.org/drawingml/2006/main">
            <a:off x="7696200" y="3876675"/>
            <a:ext cx="3181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ctr">
              <a:defRPr sz="900" b="1">
                <a:solidFill>
                  <a:srgbClr val="42C7B9"/>
                </a:solidFill>
                <a:latin typeface="Helvetica Neue"/>
                <a:ea typeface="Helvetica Neue"/>
                <a:cs typeface="Helvetica Neue"/>
              </a:defRPr>
            </a:pPr>
            <a:r>
              <a:rPr sz="900" b="1">
                <a:solidFill>
                  <a:srgbClr val="42C7B9"/>
                </a:solidFill>
                <a:latin typeface="Helvetica Neue"/>
                <a:ea typeface="Helvetica Neue"/>
                <a:cs typeface="Helvetica Neue"/>
              </a:rPr>
              <a:t>10  Bandeja de movimientos</a:t>
            </a:r>
          </a:p>
        </p:txBody>
      </p:sp>
      <p:pic>
        <p:nvPicPr>
          <p:cNvPr id="31" name=""/>
          <p:cNvPicPr>
            <a:picLocks xmlns:a="http://schemas.openxmlformats.org/drawingml/2006/main" noChangeAspect="1"/>
          </p:cNvPicPr>
          <p:nvPr/>
        </p:nvPicPr>
        <p:blipFill>
          <a:blip xmlns:r="http://schemas.openxmlformats.org/officeDocument/2006/relationships" xmlns:a="http://schemas.openxmlformats.org/drawingml/2006/main" r:embed="Ra18706d9fb5e49b5"/>
          <a:stretch xmlns:a="http://schemas.openxmlformats.org/drawingml/2006/main"/>
        </p:blipFill>
        <p:spPr>
          <a:xfrm xmlns:a="http://schemas.openxmlformats.org/drawingml/2006/main">
            <a:off x="1409700" y="4210050"/>
            <a:ext cx="1733550" cy="1733550"/>
          </a:xfrm>
          <a:prstGeom xmlns:a="http://schemas.openxmlformats.org/drawingml/2006/main" prst="roundRect">
            <a:avLst>
              <a:gd name="adj" fmla="val 4396"/>
            </a:avLst>
          </a:prstGeom>
        </p:spPr>
      </p:pic>
      <p:sp>
        <p:nvSpPr>
          <p:cNvPr id="14" name="">
            <a:extLst xmlns:a="http://schemas.openxmlformats.org/drawingml/2006/main">
              <a:ext uri="{FF2B5EF4-FFF2-40B4-BE49-F238E27FC236}">
                <a16:creationId xmlns:a16="http://schemas.microsoft.com/office/drawing/2014/main" id="{8D0C70B6-CECB-42FD-AB72-2289693146E7}"/>
              </a:ext>
            </a:extLst>
          </p:cNvPr>
          <p:cNvSpPr>
            <a:spLocks xmlns:a="http://schemas.openxmlformats.org/drawingml/2006/main" noGrp="1"/>
          </p:cNvSpPr>
          <p:nvPr/>
        </p:nvSpPr>
        <p:spPr>
          <a:xfrm xmlns:a="http://schemas.openxmlformats.org/drawingml/2006/main">
            <a:off x="685800" y="6010275"/>
            <a:ext cx="3181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ctr">
              <a:defRPr sz="900" b="1">
                <a:solidFill>
                  <a:srgbClr val="42C7B9"/>
                </a:solidFill>
                <a:latin typeface="Helvetica Neue"/>
                <a:ea typeface="Helvetica Neue"/>
                <a:cs typeface="Helvetica Neue"/>
              </a:defRPr>
            </a:pPr>
            <a:r>
              <a:rPr sz="900" b="1">
                <a:solidFill>
                  <a:srgbClr val="42C7B9"/>
                </a:solidFill>
                <a:latin typeface="Helvetica Neue"/>
                <a:ea typeface="Helvetica Neue"/>
                <a:cs typeface="Helvetica Neue"/>
              </a:rPr>
              <a:t>11  Confirmar sugerencia</a:t>
            </a:r>
          </a:p>
        </p:txBody>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d8ec7a8d6768420a"/>
          <a:stretch xmlns:a="http://schemas.openxmlformats.org/drawingml/2006/main"/>
        </p:blipFill>
        <p:spPr>
          <a:xfrm xmlns:a="http://schemas.openxmlformats.org/drawingml/2006/main">
            <a:off x="4914900" y="4210050"/>
            <a:ext cx="1733550" cy="1733550"/>
          </a:xfrm>
          <a:prstGeom xmlns:a="http://schemas.openxmlformats.org/drawingml/2006/main" prst="roundRect">
            <a:avLst>
              <a:gd name="adj" fmla="val 4396"/>
            </a:avLst>
          </a:prstGeom>
        </p:spPr>
      </p:pic>
      <p:sp>
        <p:nvSpPr>
          <p:cNvPr id="16" name="">
            <a:extLst xmlns:a="http://schemas.openxmlformats.org/drawingml/2006/main">
              <a:ext uri="{FF2B5EF4-FFF2-40B4-BE49-F238E27FC236}">
                <a16:creationId xmlns:a16="http://schemas.microsoft.com/office/drawing/2014/main" id="{072F20D6-E8EA-416F-A272-BC2321A64BC0}"/>
              </a:ext>
            </a:extLst>
          </p:cNvPr>
          <p:cNvSpPr>
            <a:spLocks xmlns:a="http://schemas.openxmlformats.org/drawingml/2006/main" noGrp="1"/>
          </p:cNvSpPr>
          <p:nvPr/>
        </p:nvSpPr>
        <p:spPr>
          <a:xfrm xmlns:a="http://schemas.openxmlformats.org/drawingml/2006/main">
            <a:off x="4191000" y="6010275"/>
            <a:ext cx="3181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ctr">
              <a:defRPr sz="900" b="1">
                <a:solidFill>
                  <a:srgbClr val="42C7B9"/>
                </a:solidFill>
                <a:latin typeface="Helvetica Neue"/>
                <a:ea typeface="Helvetica Neue"/>
                <a:cs typeface="Helvetica Neue"/>
              </a:defRPr>
            </a:pPr>
            <a:r>
              <a:rPr sz="900" b="1">
                <a:solidFill>
                  <a:srgbClr val="42C7B9"/>
                </a:solidFill>
                <a:latin typeface="Helvetica Neue"/>
                <a:ea typeface="Helvetica Neue"/>
                <a:cs typeface="Helvetica Neue"/>
              </a:rPr>
              <a:t>12  Mis causas</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265f319dbce04fc2"/>
          <a:stretch xmlns:a="http://schemas.openxmlformats.org/drawingml/2006/main"/>
        </p:blipFill>
        <p:spPr>
          <a:xfrm xmlns:a="http://schemas.openxmlformats.org/drawingml/2006/main">
            <a:off x="8420100" y="4210050"/>
            <a:ext cx="1733550" cy="1733550"/>
          </a:xfrm>
          <a:prstGeom xmlns:a="http://schemas.openxmlformats.org/drawingml/2006/main" prst="roundRect">
            <a:avLst>
              <a:gd name="adj" fmla="val 4396"/>
            </a:avLst>
          </a:prstGeom>
        </p:spPr>
      </p:pic>
      <p:sp>
        <p:nvSpPr>
          <p:cNvPr id="18" name="">
            <a:extLst xmlns:a="http://schemas.openxmlformats.org/drawingml/2006/main">
              <a:ext uri="{FF2B5EF4-FFF2-40B4-BE49-F238E27FC236}">
                <a16:creationId xmlns:a16="http://schemas.microsoft.com/office/drawing/2014/main" id="{AACDD6CA-D37E-4B4C-A101-A8F438B4EB00}"/>
              </a:ext>
            </a:extLst>
          </p:cNvPr>
          <p:cNvSpPr>
            <a:spLocks xmlns:a="http://schemas.openxmlformats.org/drawingml/2006/main" noGrp="1"/>
          </p:cNvSpPr>
          <p:nvPr/>
        </p:nvSpPr>
        <p:spPr>
          <a:xfrm xmlns:a="http://schemas.openxmlformats.org/drawingml/2006/main">
            <a:off x="7696200" y="6010275"/>
            <a:ext cx="31813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ctr">
              <a:defRPr sz="900" b="1">
                <a:solidFill>
                  <a:srgbClr val="42C7B9"/>
                </a:solidFill>
                <a:latin typeface="Helvetica Neue"/>
                <a:ea typeface="Helvetica Neue"/>
                <a:cs typeface="Helvetica Neue"/>
              </a:defRPr>
            </a:pPr>
            <a:r>
              <a:rPr sz="900" b="1">
                <a:solidFill>
                  <a:srgbClr val="42C7B9"/>
                </a:solidFill>
                <a:latin typeface="Helvetica Neue"/>
                <a:ea typeface="Helvetica Neue"/>
                <a:cs typeface="Helvetica Neue"/>
              </a:rPr>
              <a:t>13  Detalle para cliente</a:t>
            </a:r>
          </a:p>
        </p:txBody>
      </p:sp>
    </p:spTree>
    <p:extLst>
      <p:ext uri="{BB962C8B-B14F-4D97-AF65-F5344CB8AC3E}">
        <p14:creationId xmlns:p14="http://schemas.microsoft.com/office/powerpoint/2010/main" val="624313302"/>
      </p:ext>
    </p:extLst>
  </p:cSld>
</p:sld>
</file>

<file path=ppt/slides/slide10.xml><?xml version="1.0" encoding="utf-8"?>
<p:sld xmlns:p="http://schemas.openxmlformats.org/presentationml/2006/main">
  <p:cSld>
    <p:bg>
      <p:bgPr>
        <a:solidFill xmlns:a="http://schemas.openxmlformats.org/drawingml/2006/main">
          <a:srgbClr val="0B0F14"/>
        </a:solidFill>
      </p:bgPr>
    </p:bg>
    <p:spTree>
      <p:nvGrpSpPr>
        <p:cNvPr id="1" name=""/>
        <p:cNvGrpSpPr/>
        <p:nvPr/>
      </p:nvGrpSpPr>
      <p:grpSpPr>
        <a:xfrm xmlns:a="http://schemas.openxmlformats.org/drawingml/2006/main"/>
      </p:grpSpPr>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ae563cf2d8274b36"/>
          <a:srcRect xmlns:a="http://schemas.openxmlformats.org/drawingml/2006/main" l="26550" t="0" r="26550" b="0"/>
          <a:stretch xmlns:a="http://schemas.openxmlformats.org/drawingml/2006/main">
            <a:fillRect l="0" t="0" r="0" b="0"/>
          </a:stretch>
        </p:blipFill>
        <p:spPr>
          <a:xfrm xmlns:a="http://schemas.openxmlformats.org/drawingml/2006/main">
            <a:off x="6477000" y="0"/>
            <a:ext cx="5715000" cy="6858000"/>
          </a:xfrm>
          <a:prstGeom xmlns:a="http://schemas.openxmlformats.org/drawingml/2006/main" prst="roundRect">
            <a:avLst>
              <a:gd name="adj" fmla="val 1333"/>
            </a:avLst>
          </a:prstGeom>
        </p:spPr>
      </p:pic>
      <p:sp>
        <p:nvSpPr>
          <p:cNvPr id="2" name="">
            <a:extLst xmlns:a="http://schemas.openxmlformats.org/drawingml/2006/main">
              <a:ext uri="{FF2B5EF4-FFF2-40B4-BE49-F238E27FC236}">
                <a16:creationId xmlns:a16="http://schemas.microsoft.com/office/drawing/2014/main" id="{1E9A90FA-D400-4B7E-84F7-9E4999B94CE1}"/>
              </a:ext>
            </a:extLst>
          </p:cNvPr>
          <p:cNvSpPr>
            <a:spLocks xmlns:a="http://schemas.openxmlformats.org/drawingml/2006/main" noGrp="1"/>
          </p:cNvSpPr>
          <p:nvPr/>
        </p:nvSpPr>
        <p:spPr>
          <a:xfrm xmlns:a="http://schemas.openxmlformats.org/drawingml/2006/main">
            <a:off x="0" y="0"/>
            <a:ext cx="7048500" cy="6858000"/>
          </a:xfrm>
          <a:prstGeom xmlns:a="http://schemas.openxmlformats.org/drawingml/2006/main" prst="rect">
            <a:avLst/>
          </a:prstGeom>
          <a:solidFill xmlns:a="http://schemas.openxmlformats.org/drawingml/2006/main">
            <a:srgbClr val="0B0F14">
              <a:alpha val="94902"/>
            </a:srgbClr>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7737A939-2C10-4197-B9A9-3BEC66718B4D}"/>
              </a:ext>
            </a:extLst>
          </p:cNvPr>
          <p:cNvSpPr>
            <a:spLocks xmlns:a="http://schemas.openxmlformats.org/drawingml/2006/main" noGrp="1"/>
          </p:cNvSpPr>
          <p:nvPr/>
        </p:nvSpPr>
        <p:spPr>
          <a:xfrm xmlns:a="http://schemas.openxmlformats.org/drawingml/2006/main">
            <a:off x="0" y="0"/>
            <a:ext cx="12192000" cy="133350"/>
          </a:xfrm>
          <a:prstGeom xmlns:a="http://schemas.openxmlformats.org/drawingml/2006/main" prst="rect">
            <a:avLst/>
          </a:prstGeom>
          <a:solidFill xmlns:a="http://schemas.openxmlformats.org/drawingml/2006/main">
            <a:srgbClr val="42C7B9"/>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9C583271-40E1-4D23-95B6-B51C7A6761E0}"/>
              </a:ext>
            </a:extLst>
          </p:cNvPr>
          <p:cNvSpPr>
            <a:spLocks xmlns:a="http://schemas.openxmlformats.org/drawingml/2006/main" noGrp="1"/>
          </p:cNvSpPr>
          <p:nvPr/>
        </p:nvSpPr>
        <p:spPr>
          <a:xfrm xmlns:a="http://schemas.openxmlformats.org/drawingml/2006/main">
            <a:off x="685800" y="371475"/>
            <a:ext cx="28575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defRPr sz="900" b="1" spc="1">
                <a:solidFill>
                  <a:srgbClr val="8FA8FF"/>
                </a:solidFill>
                <a:latin typeface="Helvetica Neue"/>
                <a:ea typeface="Helvetica Neue"/>
                <a:cs typeface="Helvetica Neue"/>
              </a:defRPr>
            </a:pPr>
            <a:r>
              <a:rPr sz="900" b="1" spc="1">
                <a:solidFill>
                  <a:srgbClr val="8FA8FF"/>
                </a:solidFill>
                <a:latin typeface="Helvetica Neue"/>
                <a:ea typeface="Helvetica Neue"/>
                <a:cs typeface="Helvetica Neue"/>
              </a:rPr>
              <a:t>CIERRE</a:t>
            </a:r>
          </a:p>
        </p:txBody>
      </p:sp>
      <p:sp>
        <p:nvSpPr>
          <p:cNvPr id="5" name="">
            <a:extLst xmlns:a="http://schemas.openxmlformats.org/drawingml/2006/main">
              <a:ext uri="{FF2B5EF4-FFF2-40B4-BE49-F238E27FC236}">
                <a16:creationId xmlns:a16="http://schemas.microsoft.com/office/drawing/2014/main" id="{760FE11D-11FF-482C-9254-773F8384E48C}"/>
              </a:ext>
            </a:extLst>
          </p:cNvPr>
          <p:cNvSpPr>
            <a:spLocks xmlns:a="http://schemas.openxmlformats.org/drawingml/2006/main" noGrp="1"/>
          </p:cNvSpPr>
          <p:nvPr/>
        </p:nvSpPr>
        <p:spPr>
          <a:xfrm xmlns:a="http://schemas.openxmlformats.org/drawingml/2006/main">
            <a:off x="9906000" y="371475"/>
            <a:ext cx="152400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72222"/>
          </a:bodyPr>
          <a:lstStyle xmlns:a="http://schemas.openxmlformats.org/drawingml/2006/main"/>
          <a:p xmlns:a="http://schemas.openxmlformats.org/drawingml/2006/main">
            <a:pPr algn="r">
              <a:defRPr sz="900" b="1">
                <a:solidFill>
                  <a:srgbClr val="AEB8C4"/>
                </a:solidFill>
                <a:latin typeface="Helvetica Neue"/>
                <a:ea typeface="Helvetica Neue"/>
                <a:cs typeface="Helvetica Neue"/>
              </a:defRPr>
            </a:pPr>
            <a:r>
              <a:rPr sz="900" b="1">
                <a:solidFill>
                  <a:srgbClr val="AEB8C4"/>
                </a:solidFill>
                <a:latin typeface="Helvetica Neue"/>
                <a:ea typeface="Helvetica Neue"/>
                <a:cs typeface="Helvetica Neue"/>
              </a:rPr>
              <a:t>Natanael</a:t>
            </a:r>
          </a:p>
        </p:txBody>
      </p:sp>
      <p:sp>
        <p:nvSpPr>
          <p:cNvPr id="6" name="">
            <a:extLst xmlns:a="http://schemas.openxmlformats.org/drawingml/2006/main">
              <a:ext uri="{FF2B5EF4-FFF2-40B4-BE49-F238E27FC236}">
                <a16:creationId xmlns:a16="http://schemas.microsoft.com/office/drawing/2014/main" id="{F5656CCC-9C35-4AA7-98C5-062075224354}"/>
              </a:ext>
            </a:extLst>
          </p:cNvPr>
          <p:cNvSpPr>
            <a:spLocks xmlns:a="http://schemas.openxmlformats.org/drawingml/2006/main" noGrp="1"/>
          </p:cNvSpPr>
          <p:nvPr/>
        </p:nvSpPr>
        <p:spPr>
          <a:xfrm xmlns:a="http://schemas.openxmlformats.org/drawingml/2006/main">
            <a:off x="10906125" y="6438900"/>
            <a:ext cx="523875"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63636"/>
          </a:bodyPr>
          <a:lstStyle xmlns:a="http://schemas.openxmlformats.org/drawingml/2006/main"/>
          <a:p xmlns:a="http://schemas.openxmlformats.org/drawingml/2006/main">
            <a:pPr algn="r">
              <a:defRPr sz="825" b="1">
                <a:solidFill>
                  <a:srgbClr val="AEB8C4"/>
                </a:solidFill>
                <a:latin typeface="Helvetica Neue"/>
                <a:ea typeface="Helvetica Neue"/>
                <a:cs typeface="Helvetica Neue"/>
              </a:defRPr>
            </a:pPr>
            <a:r>
              <a:rPr sz="825" b="1">
                <a:solidFill>
                  <a:srgbClr val="AEB8C4"/>
                </a:solidFill>
                <a:latin typeface="Helvetica Neue"/>
                <a:ea typeface="Helvetica Neue"/>
                <a:cs typeface="Helvetica Neue"/>
              </a:rPr>
              <a:t>10</a:t>
            </a:r>
          </a:p>
        </p:txBody>
      </p:sp>
      <p:sp>
        <p:nvSpPr>
          <p:cNvPr id="7" name="">
            <a:extLst xmlns:a="http://schemas.openxmlformats.org/drawingml/2006/main">
              <a:ext uri="{FF2B5EF4-FFF2-40B4-BE49-F238E27FC236}">
                <a16:creationId xmlns:a16="http://schemas.microsoft.com/office/drawing/2014/main" id="{F976BEEC-F83D-4869-8AFE-C5D7A591C300}"/>
              </a:ext>
            </a:extLst>
          </p:cNvPr>
          <p:cNvSpPr>
            <a:spLocks xmlns:a="http://schemas.openxmlformats.org/drawingml/2006/main" noGrp="1"/>
          </p:cNvSpPr>
          <p:nvPr/>
        </p:nvSpPr>
        <p:spPr>
          <a:xfrm xmlns:a="http://schemas.openxmlformats.org/drawingml/2006/main">
            <a:off x="685800" y="1123950"/>
            <a:ext cx="542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90244"/>
          </a:bodyPr>
          <a:lstStyle xmlns:a="http://schemas.openxmlformats.org/drawingml/2006/main"/>
          <a:p xmlns:a="http://schemas.openxmlformats.org/drawingml/2006/main">
            <a:pPr>
              <a:defRPr sz="3075" b="1">
                <a:solidFill>
                  <a:srgbClr val="F4F7FA"/>
                </a:solidFill>
                <a:latin typeface="Helvetica Neue"/>
                <a:ea typeface="Helvetica Neue"/>
                <a:cs typeface="Helvetica Neue"/>
              </a:defRPr>
            </a:pPr>
            <a:r>
              <a:rPr sz="3075" b="1">
                <a:solidFill>
                  <a:srgbClr val="F4F7FA"/>
                </a:solidFill>
                <a:latin typeface="Helvetica Neue"/>
                <a:ea typeface="Helvetica Neue"/>
                <a:cs typeface="Helvetica Neue"/>
              </a:rPr>
              <a:t>Cierre de la Fase 1</a:t>
            </a:r>
          </a:p>
        </p:txBody>
      </p:sp>
      <p:sp>
        <p:nvSpPr>
          <p:cNvPr id="8" name="">
            <a:extLst xmlns:a="http://schemas.openxmlformats.org/drawingml/2006/main">
              <a:ext uri="{FF2B5EF4-FFF2-40B4-BE49-F238E27FC236}">
                <a16:creationId xmlns:a16="http://schemas.microsoft.com/office/drawing/2014/main" id="{D9B42DE1-69E3-4B3D-9CA7-077FB237E0FC}"/>
              </a:ext>
            </a:extLst>
          </p:cNvPr>
          <p:cNvSpPr>
            <a:spLocks xmlns:a="http://schemas.openxmlformats.org/drawingml/2006/main" noGrp="1"/>
          </p:cNvSpPr>
          <p:nvPr/>
        </p:nvSpPr>
        <p:spPr>
          <a:xfrm xmlns:a="http://schemas.openxmlformats.org/drawingml/2006/main">
            <a:off x="685800" y="2228850"/>
            <a:ext cx="43815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100000"/>
          </a:bodyPr>
          <a:lstStyle xmlns:a="http://schemas.openxmlformats.org/drawingml/2006/main"/>
          <a:p xmlns:a="http://schemas.openxmlformats.org/drawingml/2006/main">
            <a:pPr>
              <a:defRPr sz="1875">
                <a:solidFill>
                  <a:srgbClr val="42C7B9"/>
                </a:solidFill>
                <a:latin typeface="Helvetica Neue"/>
                <a:ea typeface="Helvetica Neue"/>
                <a:cs typeface="Helvetica Neue"/>
              </a:defRPr>
            </a:pPr>
            <a:r>
              <a:rPr sz="1875">
                <a:solidFill>
                  <a:srgbClr val="42C7B9"/>
                </a:solidFill>
                <a:latin typeface="Helvetica Neue"/>
                <a:ea typeface="Helvetica Neue"/>
                <a:cs typeface="Helvetica Neue"/>
              </a:rPr>
              <a:t>Problema definido</a:t>
            </a:r>
          </a:p>
          <a:p xmlns:a="http://schemas.openxmlformats.org/drawingml/2006/main">
            <a:pPr>
              <a:defRPr sz="1875">
                <a:solidFill>
                  <a:srgbClr val="42C7B9"/>
                </a:solidFill>
                <a:latin typeface="Helvetica Neue"/>
                <a:ea typeface="Helvetica Neue"/>
                <a:cs typeface="Helvetica Neue"/>
              </a:defRPr>
            </a:pPr>
            <a:r>
              <a:rPr sz="1875">
                <a:solidFill>
                  <a:srgbClr val="42C7B9"/>
                </a:solidFill>
                <a:latin typeface="Helvetica Neue"/>
                <a:ea typeface="Helvetica Neue"/>
                <a:cs typeface="Helvetica Neue"/>
              </a:rPr>
              <a:t>Alcance acordado</a:t>
            </a:r>
          </a:p>
          <a:p xmlns:a="http://schemas.openxmlformats.org/drawingml/2006/main">
            <a:pPr>
              <a:defRPr sz="1875">
                <a:solidFill>
                  <a:srgbClr val="42C7B9"/>
                </a:solidFill>
                <a:latin typeface="Helvetica Neue"/>
                <a:ea typeface="Helvetica Neue"/>
                <a:cs typeface="Helvetica Neue"/>
              </a:defRPr>
            </a:pPr>
            <a:r>
              <a:rPr sz="1875">
                <a:solidFill>
                  <a:srgbClr val="42C7B9"/>
                </a:solidFill>
                <a:latin typeface="Helvetica Neue"/>
                <a:ea typeface="Helvetica Neue"/>
                <a:cs typeface="Helvetica Neue"/>
              </a:rPr>
              <a:t>Arquitectura propuesta</a:t>
            </a:r>
          </a:p>
          <a:p xmlns:a="http://schemas.openxmlformats.org/drawingml/2006/main">
            <a:pPr>
              <a:defRPr sz="1875">
                <a:solidFill>
                  <a:srgbClr val="42C7B9"/>
                </a:solidFill>
                <a:latin typeface="Helvetica Neue"/>
                <a:ea typeface="Helvetica Neue"/>
                <a:cs typeface="Helvetica Neue"/>
              </a:defRPr>
            </a:pPr>
            <a:r>
              <a:rPr sz="1875">
                <a:solidFill>
                  <a:srgbClr val="42C7B9"/>
                </a:solidFill>
                <a:latin typeface="Helvetica Neue"/>
                <a:ea typeface="Helvetica Neue"/>
                <a:cs typeface="Helvetica Neue"/>
              </a:rPr>
              <a:t>13 mockups para guiar el prototipo</a:t>
            </a:r>
          </a:p>
        </p:txBody>
      </p:sp>
      <p:sp>
        <p:nvSpPr>
          <p:cNvPr id="9" name="">
            <a:extLst xmlns:a="http://schemas.openxmlformats.org/drawingml/2006/main">
              <a:ext uri="{FF2B5EF4-FFF2-40B4-BE49-F238E27FC236}">
                <a16:creationId xmlns:a16="http://schemas.microsoft.com/office/drawing/2014/main" id="{BD36B12C-09B0-4712-9FDE-B638F3B8FF4D}"/>
              </a:ext>
            </a:extLst>
          </p:cNvPr>
          <p:cNvSpPr>
            <a:spLocks xmlns:a="http://schemas.openxmlformats.org/drawingml/2006/main" noGrp="1"/>
          </p:cNvSpPr>
          <p:nvPr/>
        </p:nvSpPr>
        <p:spPr>
          <a:xfrm xmlns:a="http://schemas.openxmlformats.org/drawingml/2006/main">
            <a:off x="685800" y="4686300"/>
            <a:ext cx="48958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313"/>
          </a:bodyPr>
          <a:lstStyle xmlns:a="http://schemas.openxmlformats.org/drawingml/2006/main"/>
          <a:p xmlns:a="http://schemas.openxmlformats.org/drawingml/2006/main">
            <a:pPr>
              <a:defRPr sz="1650" b="1">
                <a:solidFill>
                  <a:srgbClr val="7DD3A7"/>
                </a:solidFill>
                <a:latin typeface="Helvetica Neue"/>
                <a:ea typeface="Helvetica Neue"/>
                <a:cs typeface="Helvetica Neue"/>
              </a:defRPr>
            </a:pPr>
            <a:r>
              <a:rPr sz="1650" b="1">
                <a:solidFill>
                  <a:srgbClr val="7DD3A7"/>
                </a:solidFill>
                <a:latin typeface="Helvetica Neue"/>
                <a:ea typeface="Helvetica Neue"/>
                <a:cs typeface="Helvetica Neue"/>
              </a:rPr>
              <a:t>Siguiente paso: construir una primera versión funcional con prioridades claras de base de datos, seguridad e interfaz.</a:t>
            </a:r>
          </a:p>
        </p:txBody>
      </p:sp>
      <p:sp>
        <p:nvSpPr>
          <p:cNvPr id="10" name="">
            <a:extLst xmlns:a="http://schemas.openxmlformats.org/drawingml/2006/main">
              <a:ext uri="{FF2B5EF4-FFF2-40B4-BE49-F238E27FC236}">
                <a16:creationId xmlns:a16="http://schemas.microsoft.com/office/drawing/2014/main" id="{0B7C999F-F307-48DF-B3FC-E340855CF5EF}"/>
              </a:ext>
            </a:extLst>
          </p:cNvPr>
          <p:cNvSpPr>
            <a:spLocks xmlns:a="http://schemas.openxmlformats.org/drawingml/2006/main" noGrp="1"/>
          </p:cNvSpPr>
          <p:nvPr/>
        </p:nvSpPr>
        <p:spPr>
          <a:xfrm xmlns:a="http://schemas.openxmlformats.org/drawingml/2006/main">
            <a:off x="685800" y="5905500"/>
            <a:ext cx="3810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rmAutofit fontScale="81333"/>
          </a:bodyPr>
          <a:lstStyle xmlns:a="http://schemas.openxmlformats.org/drawingml/2006/main"/>
          <a:p xmlns:a="http://schemas.openxmlformats.org/drawingml/2006/main">
            <a:pPr>
              <a:defRPr sz="1875" b="1">
                <a:solidFill>
                  <a:srgbClr val="42C7B9"/>
                </a:solidFill>
                <a:latin typeface="Helvetica Neue"/>
                <a:ea typeface="Helvetica Neue"/>
                <a:cs typeface="Helvetica Neue"/>
              </a:defRPr>
            </a:pPr>
            <a:r>
              <a:rPr sz="1875" b="1">
                <a:solidFill>
                  <a:srgbClr val="42C7B9"/>
                </a:solidFill>
                <a:latin typeface="Helvetica Neue"/>
                <a:ea typeface="Helvetica Neue"/>
                <a:cs typeface="Helvetica Neue"/>
              </a:rPr>
              <a:t>Muchas gracias</a:t>
            </a:r>
          </a:p>
        </p:txBody>
      </p:sp>
    </p:spTree>
    <p:extLst>
      <p:ext uri="{BB962C8B-B14F-4D97-AF65-F5344CB8AC3E}">
        <p14:creationId xmlns:p14="http://schemas.microsoft.com/office/powerpoint/2010/main" val="74574890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2026-09-12T05:14:57.5760000Z</dcterms:created>
  <dcterms:modified xsi:type="dcterms:W3CDTF">2026-09-12T05:14:57.5760000Z</dcterms:modified>
</coreProperties>
</file>